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58" r:id="rId7"/>
    <p:sldId id="264" r:id="rId8"/>
    <p:sldId id="267" r:id="rId9"/>
    <p:sldId id="268" r:id="rId10"/>
    <p:sldId id="262" r:id="rId11"/>
    <p:sldId id="269" r:id="rId12"/>
    <p:sldId id="270" r:id="rId13"/>
    <p:sldId id="259" r:id="rId14"/>
    <p:sldId id="265" r:id="rId15"/>
    <p:sldId id="275" r:id="rId16"/>
    <p:sldId id="277" r:id="rId17"/>
    <p:sldId id="276" r:id="rId18"/>
    <p:sldId id="274" r:id="rId19"/>
    <p:sldId id="271" r:id="rId20"/>
    <p:sldId id="272" r:id="rId21"/>
    <p:sldId id="266" r:id="rId22"/>
    <p:sldId id="260" r:id="rId23"/>
    <p:sldId id="261" r:id="rId24"/>
    <p:sldId id="278" r:id="rId25"/>
    <p:sldId id="263" r:id="rId2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6062"/>
    <a:srgbClr val="DA3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>
      <p:cViewPr varScale="1">
        <p:scale>
          <a:sx n="93" d="100"/>
          <a:sy n="93" d="100"/>
        </p:scale>
        <p:origin x="54" y="8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79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6D40C89-1D2E-42C9-AD79-5E024A5F6A11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5CA20F1-9B12-4236-A14C-758ACCB4D1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36087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B61CB86-BEE3-4DB7-A266-59DAD553B236}" type="datetimeFigureOut">
              <a:rPr lang="en-IN" smtClean="0"/>
              <a:pPr/>
              <a:t>09-05-2026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07C1086-E94F-44D0-9E39-85AA8FC12AB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8746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C1086-E94F-44D0-9E39-85AA8FC12ABE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79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CA169-E04C-4FCA-B899-EF33C33D0E7C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3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151" y="1342408"/>
            <a:ext cx="10515600" cy="8739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76871"/>
            <a:ext cx="10515600" cy="390009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777D-BD8A-436C-8F01-28C42F1C3761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Digital Logic Design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9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CDDC-B040-43CE-82D5-047BACC8FA97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10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334B7-DBBC-4B0E-8D27-CD9A13C4A09A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91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FCD2-23AA-485F-A69C-970F807AFED3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10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DC733-1D37-4B82-8ACB-4CC30F48EBC0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99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95567-4AD8-4F5F-A1B1-D7691E54D841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32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1E6D9-69B1-450D-BBD4-5BA947242518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85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E75D8-15A7-4930-AB53-853ED5CC75C7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24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14687-A5B4-460B-AE0B-C62700C649BF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25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0933-5B95-4B05-992A-FC9F261BC0ED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758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7844" y="86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93B02-A53E-43E8-B508-E6BFD8C80A38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Digital Logic Design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-13692"/>
            <a:ext cx="12211288" cy="70638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209364" y="293871"/>
            <a:ext cx="6744072" cy="858202"/>
            <a:chOff x="119336" y="1512082"/>
            <a:chExt cx="6479501" cy="858202"/>
          </a:xfrm>
          <a:effectLst>
            <a:outerShdw blurRad="50800" dist="76200" dir="2700000" algn="tl" rotWithShape="0">
              <a:prstClr val="black">
                <a:alpha val="70000"/>
              </a:prstClr>
            </a:outerShdw>
          </a:effectLst>
        </p:grpSpPr>
        <p:sp>
          <p:nvSpPr>
            <p:cNvPr id="10" name="Rounded Rectangle 9"/>
            <p:cNvSpPr/>
            <p:nvPr/>
          </p:nvSpPr>
          <p:spPr>
            <a:xfrm>
              <a:off x="119336" y="1512082"/>
              <a:ext cx="6479501" cy="8582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344" y="1565710"/>
              <a:ext cx="1872208" cy="786194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2" name="Title 1"/>
          <p:cNvSpPr txBox="1">
            <a:spLocks/>
          </p:cNvSpPr>
          <p:nvPr userDrawn="1"/>
        </p:nvSpPr>
        <p:spPr>
          <a:xfrm>
            <a:off x="2285806" y="319528"/>
            <a:ext cx="4495852" cy="786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solidFill>
                  <a:srgbClr val="606062"/>
                </a:solidFill>
                <a:latin typeface="Arial Narrow" panose="020B0606020202030204" pitchFamily="34" charset="0"/>
              </a:rPr>
              <a:t>School of Technology Management &amp; Engineering | Navi Mumbai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772945"/>
            <a:ext cx="12211288" cy="8505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232966" y="319528"/>
            <a:ext cx="0" cy="8141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57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219200"/>
            <a:ext cx="9677400" cy="2387600"/>
          </a:xfrm>
        </p:spPr>
        <p:txBody>
          <a:bodyPr>
            <a:normAutofit/>
          </a:bodyPr>
          <a:lstStyle/>
          <a:p>
            <a:r>
              <a:rPr lang="en-US" b="1" dirty="0" err="1"/>
              <a:t>Revora</a:t>
            </a:r>
            <a:r>
              <a:rPr lang="en-US" b="1" dirty="0"/>
              <a:t>, NewsTv19 &amp; Task-Ops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5107578"/>
            <a:ext cx="38862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 dirty="0">
                <a:ea typeface="Calibri"/>
                <a:cs typeface="Calibri"/>
              </a:rPr>
              <a:t>Industry Mentor:</a:t>
            </a:r>
          </a:p>
          <a:p>
            <a:pPr algn="l"/>
            <a:r>
              <a:rPr lang="en-US" sz="1800" dirty="0">
                <a:ea typeface="Calibri"/>
                <a:cs typeface="Calibri"/>
              </a:rPr>
              <a:t>Mr. Kanwar Pal Singh Rathore Singh</a:t>
            </a:r>
          </a:p>
          <a:p>
            <a:pPr algn="l"/>
            <a:r>
              <a:rPr lang="en-US" sz="1800" dirty="0" err="1">
                <a:ea typeface="Calibri"/>
                <a:cs typeface="Calibri"/>
              </a:rPr>
              <a:t>TechBizSolutions</a:t>
            </a:r>
            <a:endParaRPr lang="en-US" sz="1800" dirty="0">
              <a:ea typeface="Calibri"/>
              <a:cs typeface="Calibri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C1772BC-9432-43C7-A3CD-2499FF834C41}"/>
              </a:ext>
            </a:extLst>
          </p:cNvPr>
          <p:cNvSpPr txBox="1">
            <a:spLocks/>
          </p:cNvSpPr>
          <p:nvPr/>
        </p:nvSpPr>
        <p:spPr>
          <a:xfrm>
            <a:off x="7519851" y="5107578"/>
            <a:ext cx="4672149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ea typeface="Calibri"/>
                <a:cs typeface="Calibri"/>
              </a:rPr>
              <a:t>Internal Faculty Mentor:</a:t>
            </a:r>
          </a:p>
          <a:p>
            <a:pPr algn="l"/>
            <a:r>
              <a:rPr lang="en-US" sz="1800" dirty="0">
                <a:ea typeface="Calibri"/>
                <a:cs typeface="Calibri"/>
              </a:rPr>
              <a:t>Dr. Preeti Gupta</a:t>
            </a:r>
          </a:p>
          <a:p>
            <a:pPr algn="l"/>
            <a:r>
              <a:rPr lang="en-US" sz="1800" dirty="0">
                <a:ea typeface="Calibri"/>
                <a:cs typeface="Calibri"/>
              </a:rPr>
              <a:t>School of Technology Management &amp; Engineering</a:t>
            </a:r>
          </a:p>
          <a:p>
            <a:pPr algn="l"/>
            <a:r>
              <a:rPr lang="en-US" sz="1800" dirty="0">
                <a:ea typeface="Calibri"/>
                <a:cs typeface="Calibri"/>
              </a:rPr>
              <a:t>NMIMS, Navi Mumbai</a:t>
            </a:r>
          </a:p>
        </p:txBody>
      </p:sp>
    </p:spTree>
    <p:extLst>
      <p:ext uri="{BB962C8B-B14F-4D97-AF65-F5344CB8AC3E}">
        <p14:creationId xmlns:p14="http://schemas.microsoft.com/office/powerpoint/2010/main" val="208114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151" y="1031089"/>
            <a:ext cx="10515600" cy="873911"/>
          </a:xfrm>
        </p:spPr>
        <p:txBody>
          <a:bodyPr/>
          <a:lstStyle/>
          <a:p>
            <a:r>
              <a:rPr lang="en-US" b="1" dirty="0"/>
              <a:t>Table of Content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2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E0975B-9179-2431-5AF6-AC5D8FC14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582381"/>
              </p:ext>
            </p:extLst>
          </p:nvPr>
        </p:nvGraphicFramePr>
        <p:xfrm>
          <a:off x="990600" y="1626790"/>
          <a:ext cx="11049000" cy="5007770"/>
        </p:xfrm>
        <a:graphic>
          <a:graphicData uri="http://schemas.openxmlformats.org/drawingml/2006/table">
            <a:tbl>
              <a:tblPr/>
              <a:tblGrid>
                <a:gridCol w="955669">
                  <a:extLst>
                    <a:ext uri="{9D8B030D-6E8A-4147-A177-3AD203B41FA5}">
                      <a16:colId xmlns:a16="http://schemas.microsoft.com/office/drawing/2014/main" val="533131590"/>
                    </a:ext>
                  </a:extLst>
                </a:gridCol>
                <a:gridCol w="6410331">
                  <a:extLst>
                    <a:ext uri="{9D8B030D-6E8A-4147-A177-3AD203B41FA5}">
                      <a16:colId xmlns:a16="http://schemas.microsoft.com/office/drawing/2014/main" val="3064252495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461719678"/>
                    </a:ext>
                  </a:extLst>
                </a:gridCol>
              </a:tblGrid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Sr. No.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Topic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Slide No.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60384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Internship Overview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513576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Objective of the Project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372578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Abstract — TaskOps and NewsTV19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817846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Abstract — </a:t>
                      </a:r>
                      <a:r>
                        <a:rPr lang="en-US" sz="1100" dirty="0" err="1"/>
                        <a:t>Revora</a:t>
                      </a:r>
                      <a:endParaRPr lang="en-US" sz="1100" dirty="0"/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161177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5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Industry Relevance / Motivation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618169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Problem Statement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351595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System Architecture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975991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8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Project Workflow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9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284073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9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Hardware and Software Used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10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554675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10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Methodology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11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351944"/>
                  </a:ext>
                </a:extLst>
              </a:tr>
              <a:tr h="364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11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TaskOps</a:t>
                      </a:r>
                      <a:r>
                        <a:rPr lang="en-US" sz="1100" dirty="0"/>
                        <a:t> Admin Dashboard Evidence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12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08942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12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TaskOps Screenshots and Features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13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599725"/>
                  </a:ext>
                </a:extLst>
              </a:tr>
              <a:tr h="364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13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NewsTV19 Screenshots and Features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14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375691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14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Revora Screenshots and Features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15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451898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15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Revora AI Pricing Assistant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16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352321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16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CSV Upload and Validation Pipeline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17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846996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17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Screenshots of Results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18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004175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18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Result and Analysis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19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7541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19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Future Work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20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982997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20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Conclusions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21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927373"/>
                  </a:ext>
                </a:extLst>
              </a:tr>
              <a:tr h="208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21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References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22</a:t>
                      </a:r>
                    </a:p>
                  </a:txBody>
                  <a:tcPr marL="46291" marR="46291" marT="23145" marB="23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187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59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3590F7-D8EB-1B99-3C2D-A67B5C03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51334"/>
            <a:ext cx="10515600" cy="87391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Overview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F82D60F4-B92D-41A6-00DA-512D1B545871}"/>
              </a:ext>
            </a:extLst>
          </p:cNvPr>
          <p:cNvSpPr txBox="1"/>
          <p:nvPr/>
        </p:nvSpPr>
        <p:spPr>
          <a:xfrm>
            <a:off x="463549" y="1752600"/>
            <a:ext cx="10142663" cy="4687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b="1" dirty="0">
                <a:solidFill>
                  <a:srgbClr val="000000"/>
                </a:solidFill>
                <a:ea typeface="Calibri (MS) Bold"/>
                <a:cs typeface="Times New Roman" panose="02020603050405020304" pitchFamily="18" charset="0"/>
                <a:sym typeface="Calibri (MS) Bold"/>
              </a:rPr>
              <a:t>• Internship at Delta The Innovators</a:t>
            </a:r>
          </a:p>
          <a:p>
            <a:pPr algn="l">
              <a:lnSpc>
                <a:spcPts val="3719"/>
              </a:lnSpc>
            </a:pPr>
            <a:r>
              <a:rPr lang="en-US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• Working on TV19 News platform</a:t>
            </a:r>
          </a:p>
          <a:p>
            <a:pPr algn="l">
              <a:lnSpc>
                <a:spcPts val="3719"/>
              </a:lnSpc>
            </a:pPr>
            <a:r>
              <a:rPr lang="en-US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• Role: MERN Stack Developer Intern</a:t>
            </a:r>
          </a:p>
          <a:p>
            <a:pPr>
              <a:lnSpc>
                <a:spcPts val="3719"/>
              </a:lnSpc>
            </a:pPr>
            <a:r>
              <a:rPr lang="en-US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• Duration: 5</a:t>
            </a:r>
            <a:r>
              <a:rPr lang="en-US" baseline="30000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th</a:t>
            </a:r>
            <a:r>
              <a:rPr lang="en-US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 Jan 2026 – 30</a:t>
            </a:r>
            <a:r>
              <a:rPr lang="en-US" baseline="30000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th</a:t>
            </a:r>
            <a:r>
              <a:rPr lang="en-US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 April 2026</a:t>
            </a:r>
          </a:p>
          <a:p>
            <a:pPr>
              <a:lnSpc>
                <a:spcPts val="3719"/>
              </a:lnSpc>
            </a:pPr>
            <a:endParaRPr lang="en-US" dirty="0">
              <a:solidFill>
                <a:srgbClr val="000000"/>
              </a:solidFill>
              <a:ea typeface="Calibri (MS)"/>
              <a:cs typeface="Times New Roman" panose="02020603050405020304" pitchFamily="18" charset="0"/>
              <a:sym typeface="Calibri (MS)"/>
            </a:endParaRPr>
          </a:p>
          <a:p>
            <a:pPr algn="l">
              <a:lnSpc>
                <a:spcPts val="3719"/>
              </a:lnSpc>
            </a:pPr>
            <a:r>
              <a:rPr lang="en-US" sz="4400" b="1" dirty="0">
                <a:solidFill>
                  <a:srgbClr val="0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Objective of the Project</a:t>
            </a:r>
          </a:p>
          <a:p>
            <a:pPr algn="l">
              <a:lnSpc>
                <a:spcPts val="3719"/>
              </a:lnSpc>
            </a:pPr>
            <a:r>
              <a:rPr lang="en-US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• Optimize a real-time news aggregation engine to handle high-volume data from 20+ categories. </a:t>
            </a:r>
          </a:p>
          <a:p>
            <a:pPr algn="l">
              <a:lnSpc>
                <a:spcPts val="3719"/>
              </a:lnSpc>
            </a:pPr>
            <a:r>
              <a:rPr lang="en-US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• Develop production-level proxy servers using Express.js and TypeScript for multi-source RSS feed parsing. </a:t>
            </a:r>
          </a:p>
          <a:p>
            <a:pPr algn="l">
              <a:lnSpc>
                <a:spcPts val="3719"/>
              </a:lnSpc>
            </a:pPr>
            <a:r>
              <a:rPr lang="en-US" dirty="0">
                <a:solidFill>
                  <a:srgbClr val="000000"/>
                </a:solidFill>
                <a:ea typeface="Calibri (MS)"/>
                <a:cs typeface="Times New Roman" panose="02020603050405020304" pitchFamily="18" charset="0"/>
                <a:sym typeface="Calibri (MS)"/>
              </a:rPr>
              <a:t>• Implement automated metadata enrichment and OG image scraping to ensure high-quality content delivery.</a:t>
            </a:r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B269AD50-E596-A6D5-C4D9-548B914638F9}"/>
              </a:ext>
            </a:extLst>
          </p:cNvPr>
          <p:cNvSpPr/>
          <p:nvPr/>
        </p:nvSpPr>
        <p:spPr>
          <a:xfrm>
            <a:off x="5534881" y="2590800"/>
            <a:ext cx="5650629" cy="1356151"/>
          </a:xfrm>
          <a:custGeom>
            <a:avLst/>
            <a:gdLst/>
            <a:ahLst/>
            <a:cxnLst/>
            <a:rect l="l" t="t" r="r" b="b"/>
            <a:pathLst>
              <a:path w="5650629" h="1356151">
                <a:moveTo>
                  <a:pt x="0" y="0"/>
                </a:moveTo>
                <a:lnTo>
                  <a:pt x="5650629" y="0"/>
                </a:lnTo>
                <a:lnTo>
                  <a:pt x="5650629" y="1356151"/>
                </a:lnTo>
                <a:lnTo>
                  <a:pt x="0" y="1356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5998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447800"/>
            <a:ext cx="10515600" cy="873911"/>
          </a:xfrm>
        </p:spPr>
        <p:txBody>
          <a:bodyPr>
            <a:normAutofit fontScale="90000"/>
          </a:bodyPr>
          <a:lstStyle/>
          <a:p>
            <a:r>
              <a:rPr lang="en-US" dirty="0"/>
              <a:t>Abstract — Foundational &amp; Collaborative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31028"/>
            <a:ext cx="10515600" cy="39000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Project 1: </a:t>
            </a:r>
            <a:r>
              <a:rPr lang="en-US" b="1" dirty="0" err="1"/>
              <a:t>TaskOps</a:t>
            </a:r>
            <a:r>
              <a:rPr lang="en-US" b="1" dirty="0"/>
              <a:t> (Independent Full-Stack Project)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Project Details:</a:t>
            </a:r>
            <a:r>
              <a:rPr lang="en-US" dirty="0"/>
              <a:t> An enterprise-grade project management and real-time 	collaboration platform built on the </a:t>
            </a:r>
            <a:r>
              <a:rPr lang="en-US" b="1" dirty="0"/>
              <a:t>MERN stack</a:t>
            </a:r>
            <a:r>
              <a:rPr lang="en-US" dirty="0"/>
              <a:t> (MongoDB, Express, React,     			Node.js). It features a live Kanban board, real-time sync, and an interactive analytics suite.</a:t>
            </a:r>
          </a:p>
          <a:p>
            <a:pPr marL="0" indent="0">
              <a:buNone/>
            </a:pPr>
            <a:r>
              <a:rPr lang="en-US" b="1" dirty="0"/>
              <a:t>	Role &amp; Tasks:</a:t>
            </a:r>
            <a:r>
              <a:rPr lang="en-US" dirty="0"/>
              <a:t> Served as the </a:t>
            </a:r>
            <a:r>
              <a:rPr lang="en-US" b="1" dirty="0"/>
              <a:t>Lead Full-Stack Developer</a:t>
            </a:r>
            <a:r>
              <a:rPr lang="en-US" dirty="0"/>
              <a:t>. Independently architected the 	three-tier Role-Based Access Control (RBAC), integrated </a:t>
            </a:r>
            <a:r>
              <a:rPr lang="en-US" b="1" dirty="0"/>
              <a:t>Socket.io</a:t>
            </a:r>
            <a:r>
              <a:rPr lang="en-US" dirty="0"/>
              <a:t> for live notifications, and 	implemented a drag-and-drop system using @dnd-kit.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Project 2: NewsTV19 (Company Product Contribution)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Project Details:</a:t>
            </a:r>
            <a:r>
              <a:rPr lang="en-US" dirty="0"/>
              <a:t> A production-scale news aggregation web application that consolidates live 	feeds from 20+ global news publishers (BBC, TOI, etc.) across multiple categories.</a:t>
            </a:r>
          </a:p>
          <a:p>
            <a:pPr marL="0" indent="0">
              <a:buNone/>
            </a:pPr>
            <a:r>
              <a:rPr lang="en-US" b="1" dirty="0"/>
              <a:t>	Role &amp; Tasks:</a:t>
            </a:r>
            <a:r>
              <a:rPr lang="en-US" dirty="0"/>
              <a:t> Acted as a </a:t>
            </a:r>
            <a:r>
              <a:rPr lang="en-US" b="1" dirty="0"/>
              <a:t>Backend &amp; Integration Specialist</a:t>
            </a:r>
            <a:r>
              <a:rPr lang="en-US" dirty="0"/>
              <a:t>. Developed a custom </a:t>
            </a:r>
            <a:r>
              <a:rPr lang="en-US" b="1" dirty="0"/>
              <a:t>Express.js 	RSS Proxy Server</a:t>
            </a:r>
            <a:r>
              <a:rPr lang="en-US" dirty="0"/>
              <a:t> with a deduplication engine. Built an </a:t>
            </a:r>
            <a:r>
              <a:rPr lang="en-US" b="1" dirty="0"/>
              <a:t>asynchronous OG-metadata 	scraper</a:t>
            </a:r>
            <a:r>
              <a:rPr lang="en-US" dirty="0"/>
              <a:t> to automatically enrich news articles with high-resolution images.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87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7A36-4CFA-1ED7-AF7D-EFA2EAEE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EF4B-4FC8-709F-A2DE-519F7D9AE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447800"/>
            <a:ext cx="10515600" cy="873911"/>
          </a:xfrm>
        </p:spPr>
        <p:txBody>
          <a:bodyPr>
            <a:normAutofit fontScale="90000"/>
          </a:bodyPr>
          <a:lstStyle/>
          <a:p>
            <a:r>
              <a:rPr lang="en-US" dirty="0"/>
              <a:t>Abstract — Foundational &amp; Collaborative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B855-F492-61D4-608E-A228DC0A7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431028"/>
            <a:ext cx="10896600" cy="3900091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Project 3: </a:t>
            </a:r>
            <a:r>
              <a:rPr lang="en-US" sz="2400" b="1" dirty="0" err="1"/>
              <a:t>Revora</a:t>
            </a:r>
            <a:r>
              <a:rPr lang="en-US" sz="2400" b="1" dirty="0"/>
              <a:t> (Core Product: Business Intelligence)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	Project Details:</a:t>
            </a:r>
            <a:r>
              <a:rPr lang="en-US" sz="2400" dirty="0"/>
              <a:t> A high-complexity </a:t>
            </a:r>
            <a:r>
              <a:rPr lang="en-US" sz="2400" b="1" dirty="0"/>
              <a:t>Pricing &amp; Demand 	Intelligence</a:t>
            </a:r>
            <a:r>
              <a:rPr lang="en-US" sz="2400" dirty="0"/>
              <a:t> platform designed for data-driven decision-making. It 	enables 	businesses to simulate market scenarios and receive automated pricing 	recommendations.</a:t>
            </a:r>
          </a:p>
          <a:p>
            <a:pPr marL="0" indent="0">
              <a:buNone/>
            </a:pPr>
            <a:r>
              <a:rPr lang="en-US" sz="2400" b="1" dirty="0"/>
              <a:t>	Role &amp; Tasks:</a:t>
            </a:r>
            <a:r>
              <a:rPr lang="en-US" sz="2400" dirty="0"/>
              <a:t> Worked as a </a:t>
            </a:r>
            <a:r>
              <a:rPr lang="en-US" sz="2400" b="1" dirty="0"/>
              <a:t>Core Full-Stack Developer</a:t>
            </a:r>
            <a:r>
              <a:rPr lang="en-US" sz="2400" dirty="0"/>
              <a:t>. Engineered 	a </a:t>
            </a:r>
            <a:r>
              <a:rPr lang="en-US" sz="2400" b="1" dirty="0"/>
              <a:t>Demand 	Intelligence Engine</a:t>
            </a:r>
            <a:r>
              <a:rPr lang="en-US" sz="2400" dirty="0"/>
              <a:t> to model price elasticity and a </a:t>
            </a:r>
            <a:r>
              <a:rPr lang="en-US" sz="2400" b="1" dirty="0"/>
              <a:t>Bulk Data Pipeline</a:t>
            </a:r>
            <a:r>
              <a:rPr lang="en-US" sz="2400" dirty="0"/>
              <a:t> for high-	volume CSV ingestion using stream-based parsing.</a:t>
            </a:r>
          </a:p>
          <a:p>
            <a:pPr marL="0" indent="0">
              <a:buNone/>
            </a:pPr>
            <a:r>
              <a:rPr lang="en-US" sz="2400" b="1" dirty="0"/>
              <a:t>	AI Integration:</a:t>
            </a:r>
            <a:r>
              <a:rPr lang="en-US" sz="2400" dirty="0"/>
              <a:t> Successfully integrated a </a:t>
            </a:r>
            <a:r>
              <a:rPr lang="en-US" sz="2400" b="1" dirty="0"/>
              <a:t>local Mistral LLM</a:t>
            </a:r>
            <a:r>
              <a:rPr lang="en-US" sz="2400" dirty="0"/>
              <a:t> as a 	conversational pricing assistant, implementing a state-machine architecture to 	ensure grounded and reliable business guidance.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13FF2-9B5A-2B13-260B-1FCEC7CF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544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D9856-8EC6-E265-F914-D7D126BE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777D-BD8A-436C-8F01-28C42F1C3761}" type="datetime1">
              <a:rPr lang="en-US" smtClean="0"/>
              <a:t>5/9/2026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3F0D9-7400-F9FB-4334-6AE91420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857D3-C080-2DEC-5319-78EF9184DCBE}"/>
              </a:ext>
            </a:extLst>
          </p:cNvPr>
          <p:cNvSpPr txBox="1"/>
          <p:nvPr/>
        </p:nvSpPr>
        <p:spPr>
          <a:xfrm>
            <a:off x="658368" y="1284292"/>
            <a:ext cx="7498079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Relevance / Motivation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17A96F-0ED9-6172-269F-50EC2B53BB02}"/>
              </a:ext>
            </a:extLst>
          </p:cNvPr>
          <p:cNvSpPr/>
          <p:nvPr/>
        </p:nvSpPr>
        <p:spPr>
          <a:xfrm>
            <a:off x="658368" y="1761744"/>
            <a:ext cx="713232" cy="45720"/>
          </a:xfrm>
          <a:prstGeom prst="rect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4755B-2A7B-A48A-B3DF-2D942D07B94A}"/>
              </a:ext>
            </a:extLst>
          </p:cNvPr>
          <p:cNvSpPr txBox="1"/>
          <p:nvPr/>
        </p:nvSpPr>
        <p:spPr>
          <a:xfrm>
            <a:off x="658368" y="1871472"/>
            <a:ext cx="859536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Revora is positioned as decision support for real business pricing, not blind automation.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C6F020-C828-4676-0551-28E723129CD7}"/>
              </a:ext>
            </a:extLst>
          </p:cNvPr>
          <p:cNvSpPr/>
          <p:nvPr/>
        </p:nvSpPr>
        <p:spPr>
          <a:xfrm>
            <a:off x="1508761" y="243840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61A018-710E-F244-CF8F-3CE1E99D7142}"/>
              </a:ext>
            </a:extLst>
          </p:cNvPr>
          <p:cNvSpPr txBox="1"/>
          <p:nvPr/>
        </p:nvSpPr>
        <p:spPr>
          <a:xfrm>
            <a:off x="1655065" y="2566416"/>
            <a:ext cx="146304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188D4C-5C62-CBE7-4C4F-61D9923627C5}"/>
              </a:ext>
            </a:extLst>
          </p:cNvPr>
          <p:cNvSpPr txBox="1"/>
          <p:nvPr/>
        </p:nvSpPr>
        <p:spPr>
          <a:xfrm>
            <a:off x="1200913" y="3023616"/>
            <a:ext cx="1149096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D5361A-3719-6E30-CDC7-1E73912CC6B0}"/>
              </a:ext>
            </a:extLst>
          </p:cNvPr>
          <p:cNvSpPr txBox="1"/>
          <p:nvPr/>
        </p:nvSpPr>
        <p:spPr>
          <a:xfrm>
            <a:off x="1069849" y="3325368"/>
            <a:ext cx="1536192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Node, Express, MongoDB, auth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D5D1954F-DB58-4E7E-E3D6-E9D093E496EC}"/>
              </a:ext>
            </a:extLst>
          </p:cNvPr>
          <p:cNvCxnSpPr/>
          <p:nvPr/>
        </p:nvCxnSpPr>
        <p:spPr>
          <a:xfrm>
            <a:off x="1984249" y="2657856"/>
            <a:ext cx="213055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>
            <a:extLst>
              <a:ext uri="{FF2B5EF4-FFF2-40B4-BE49-F238E27FC236}">
                <a16:creationId xmlns:a16="http://schemas.microsoft.com/office/drawing/2014/main" id="{DC357A87-4138-D73A-4536-682B901FCBEA}"/>
              </a:ext>
            </a:extLst>
          </p:cNvPr>
          <p:cNvSpPr/>
          <p:nvPr/>
        </p:nvSpPr>
        <p:spPr>
          <a:xfrm>
            <a:off x="3977641" y="2548128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25ED2B-C7B3-604E-5499-AD09C2EF0B1F}"/>
              </a:ext>
            </a:extLst>
          </p:cNvPr>
          <p:cNvSpPr/>
          <p:nvPr/>
        </p:nvSpPr>
        <p:spPr>
          <a:xfrm>
            <a:off x="4297681" y="2438400"/>
            <a:ext cx="438912" cy="43891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EB229-E08D-0800-6B51-3B3F4A163632}"/>
              </a:ext>
            </a:extLst>
          </p:cNvPr>
          <p:cNvSpPr txBox="1"/>
          <p:nvPr/>
        </p:nvSpPr>
        <p:spPr>
          <a:xfrm>
            <a:off x="4443985" y="2566416"/>
            <a:ext cx="146304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C76F57-DEB4-D77D-7B31-7B5924BE1825}"/>
              </a:ext>
            </a:extLst>
          </p:cNvPr>
          <p:cNvSpPr txBox="1"/>
          <p:nvPr/>
        </p:nvSpPr>
        <p:spPr>
          <a:xfrm>
            <a:off x="4133088" y="3023616"/>
            <a:ext cx="1005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34B80B-21DA-8ACA-276B-4B2A7CAB9734}"/>
              </a:ext>
            </a:extLst>
          </p:cNvPr>
          <p:cNvSpPr txBox="1"/>
          <p:nvPr/>
        </p:nvSpPr>
        <p:spPr>
          <a:xfrm>
            <a:off x="3858769" y="3325368"/>
            <a:ext cx="1536192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RBAC, task boards, real-time workflows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56467390-04D6-0837-8AD0-C5893B03B296}"/>
              </a:ext>
            </a:extLst>
          </p:cNvPr>
          <p:cNvCxnSpPr/>
          <p:nvPr/>
        </p:nvCxnSpPr>
        <p:spPr>
          <a:xfrm>
            <a:off x="4773169" y="2657856"/>
            <a:ext cx="213055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>
            <a:extLst>
              <a:ext uri="{FF2B5EF4-FFF2-40B4-BE49-F238E27FC236}">
                <a16:creationId xmlns:a16="http://schemas.microsoft.com/office/drawing/2014/main" id="{4739E87B-4906-7E44-B254-6D709BAD564C}"/>
              </a:ext>
            </a:extLst>
          </p:cNvPr>
          <p:cNvSpPr/>
          <p:nvPr/>
        </p:nvSpPr>
        <p:spPr>
          <a:xfrm>
            <a:off x="6766561" y="2548128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724C5F0-663F-95E2-56C5-981EE1E983F1}"/>
              </a:ext>
            </a:extLst>
          </p:cNvPr>
          <p:cNvSpPr/>
          <p:nvPr/>
        </p:nvSpPr>
        <p:spPr>
          <a:xfrm>
            <a:off x="7086601" y="2438400"/>
            <a:ext cx="438912" cy="43891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D4B8A7-CDF3-E140-346D-ECFE6B5DEF20}"/>
              </a:ext>
            </a:extLst>
          </p:cNvPr>
          <p:cNvSpPr txBox="1"/>
          <p:nvPr/>
        </p:nvSpPr>
        <p:spPr>
          <a:xfrm>
            <a:off x="7232905" y="2566416"/>
            <a:ext cx="146304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C98B8-B7E1-CE87-CCF9-321A90135206}"/>
              </a:ext>
            </a:extLst>
          </p:cNvPr>
          <p:cNvSpPr txBox="1"/>
          <p:nvPr/>
        </p:nvSpPr>
        <p:spPr>
          <a:xfrm>
            <a:off x="6922009" y="3023616"/>
            <a:ext cx="1005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NewsTv19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561682-D664-6033-42EA-A960E05A4619}"/>
              </a:ext>
            </a:extLst>
          </p:cNvPr>
          <p:cNvSpPr txBox="1"/>
          <p:nvPr/>
        </p:nvSpPr>
        <p:spPr>
          <a:xfrm>
            <a:off x="6611113" y="3325368"/>
            <a:ext cx="1725167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RSS ingestion, search, production codebase</a:t>
            </a:r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2ACDAB4D-F314-B192-A2BA-9D8AB51206E4}"/>
              </a:ext>
            </a:extLst>
          </p:cNvPr>
          <p:cNvCxnSpPr/>
          <p:nvPr/>
        </p:nvCxnSpPr>
        <p:spPr>
          <a:xfrm>
            <a:off x="7562088" y="2657856"/>
            <a:ext cx="2130553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>
            <a:extLst>
              <a:ext uri="{FF2B5EF4-FFF2-40B4-BE49-F238E27FC236}">
                <a16:creationId xmlns:a16="http://schemas.microsoft.com/office/drawing/2014/main" id="{8F82D919-5F78-39DD-4AED-B7DB538FD899}"/>
              </a:ext>
            </a:extLst>
          </p:cNvPr>
          <p:cNvSpPr/>
          <p:nvPr/>
        </p:nvSpPr>
        <p:spPr>
          <a:xfrm>
            <a:off x="9555480" y="2548128"/>
            <a:ext cx="201168" cy="201168"/>
          </a:xfrm>
          <a:prstGeom prst="chevron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DFC8ED-5370-F277-BAC9-9A93E9DA2AB8}"/>
              </a:ext>
            </a:extLst>
          </p:cNvPr>
          <p:cNvSpPr/>
          <p:nvPr/>
        </p:nvSpPr>
        <p:spPr>
          <a:xfrm>
            <a:off x="9875520" y="2438400"/>
            <a:ext cx="438912" cy="438912"/>
          </a:xfrm>
          <a:prstGeom prst="ellipse">
            <a:avLst/>
          </a:prstGeom>
          <a:solidFill>
            <a:srgbClr val="A41C30"/>
          </a:solidFill>
          <a:ln>
            <a:solidFill>
              <a:srgbClr val="A4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177FD2-D85D-6341-2D26-D07940F632F5}"/>
              </a:ext>
            </a:extLst>
          </p:cNvPr>
          <p:cNvSpPr txBox="1"/>
          <p:nvPr/>
        </p:nvSpPr>
        <p:spPr>
          <a:xfrm>
            <a:off x="10021824" y="2566416"/>
            <a:ext cx="146304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2F7AAD-F683-2DE6-7A37-0276AB9BE2CB}"/>
              </a:ext>
            </a:extLst>
          </p:cNvPr>
          <p:cNvSpPr txBox="1"/>
          <p:nvPr/>
        </p:nvSpPr>
        <p:spPr>
          <a:xfrm>
            <a:off x="9710928" y="3023616"/>
            <a:ext cx="1005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Revora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301FF1-4BA4-086B-847C-6C5FAE7FFA27}"/>
              </a:ext>
            </a:extLst>
          </p:cNvPr>
          <p:cNvSpPr txBox="1"/>
          <p:nvPr/>
        </p:nvSpPr>
        <p:spPr>
          <a:xfrm>
            <a:off x="9436608" y="3325368"/>
            <a:ext cx="1536192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intelligence and decision quality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5BC1209-6AAB-2A69-8F15-C28779DF4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708680"/>
              </p:ext>
            </p:extLst>
          </p:nvPr>
        </p:nvGraphicFramePr>
        <p:xfrm>
          <a:off x="990600" y="4267200"/>
          <a:ext cx="10119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5919">
                <a:tc>
                  <a:txBody>
                    <a:bodyPr/>
                    <a:lstStyle/>
                    <a:p>
                      <a:pPr>
                        <a:defRPr sz="8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Revora answers it</a:t>
                      </a:r>
                    </a:p>
                  </a:txBody>
                  <a:tcPr marL="45720" marR="45720" marT="27432" marB="27432">
                    <a:solidFill>
                      <a:srgbClr val="090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need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pricing needs margin, demand, inventory, and competitor context.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applicability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 catalog managers can import CSVs and review safe ranges before acting.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fit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teams want BI-style guidance without requiring a data-science operator.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motivation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475569"/>
                          </a:solidFill>
                          <a:latin typeface="Aptos"/>
                        </a:defRPr>
                      </a:pPr>
                      <a:r>
                        <a:rPr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internship backend/frontend learning into one analytics product.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3DC58A5-A1BD-54BB-65BC-E6BD46A91376}"/>
              </a:ext>
            </a:extLst>
          </p:cNvPr>
          <p:cNvSpPr txBox="1"/>
          <p:nvPr/>
        </p:nvSpPr>
        <p:spPr>
          <a:xfrm>
            <a:off x="2066544" y="6438321"/>
            <a:ext cx="813816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keeps a human in control: it recommends, explains, warns, and exports evidence.</a:t>
            </a:r>
          </a:p>
        </p:txBody>
      </p:sp>
    </p:spTree>
    <p:extLst>
      <p:ext uri="{BB962C8B-B14F-4D97-AF65-F5344CB8AC3E}">
        <p14:creationId xmlns:p14="http://schemas.microsoft.com/office/powerpoint/2010/main" val="230000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7C3752-C860-4CB3-9BD8-DBB8C2208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98769"/>
            <a:ext cx="11353800" cy="53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2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95B7-B8DC-025C-D6EA-B54BF709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FFBB3-C5B8-6D59-B21C-F1AD9975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8</a:t>
            </a:fld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956E5B-8EE7-2AE2-ED72-9A2F79D2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7546"/>
            <a:ext cx="10668000" cy="519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1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22912-FD0C-2BA8-FB09-32615546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800" y="6356350"/>
            <a:ext cx="2743200" cy="365125"/>
          </a:xfrm>
        </p:spPr>
        <p:txBody>
          <a:bodyPr/>
          <a:lstStyle/>
          <a:p>
            <a:fld id="{81B41890-78B1-446D-ACB8-09DB24EB6BC7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CE54D9-873A-D0B5-03E4-9B2DF3CE2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4419"/>
            <a:ext cx="10668000" cy="524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4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35" y="1219200"/>
            <a:ext cx="10515600" cy="873911"/>
          </a:xfrm>
        </p:spPr>
        <p:txBody>
          <a:bodyPr/>
          <a:lstStyle/>
          <a:p>
            <a:r>
              <a:rPr lang="en-US" b="1" dirty="0"/>
              <a:t>Hardware and Software used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27B18-9CAD-5AA3-B85C-FA8D45C074FE}"/>
              </a:ext>
            </a:extLst>
          </p:cNvPr>
          <p:cNvSpPr txBox="1"/>
          <p:nvPr/>
        </p:nvSpPr>
        <p:spPr>
          <a:xfrm>
            <a:off x="304800" y="2209800"/>
            <a:ext cx="22098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Hardware: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Intel Core i5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16GB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256GB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Windows 11 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A00D6D-4DEC-107D-DBF2-14689E7D13B1}"/>
              </a:ext>
            </a:extLst>
          </p:cNvPr>
          <p:cNvSpPr txBox="1"/>
          <p:nvPr/>
        </p:nvSpPr>
        <p:spPr>
          <a:xfrm>
            <a:off x="4800600" y="2093111"/>
            <a:ext cx="664395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Software (Technologies &amp; Tools):</a:t>
            </a:r>
            <a:endParaRPr lang="en-US" b="1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Languages: JavaScript (ES6+), TypeScript, Python, HTML5, CSS3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Frontend: React.js, Vite, Tailwind CSS v4, Bootstrap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Backend: Node.js, Express.js, 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Database: MongoDB, Mongoose ODM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Real-time: Socket.io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AI/ML: Mistral LLM, Pandas, NumPy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 &amp; DevOps: Docker, AWS 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Security: JSON Web Tokens (JWT), </a:t>
            </a:r>
            <a:r>
              <a:rPr lang="en-US" dirty="0" err="1"/>
              <a:t>Bcrypt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Analytics: Recharts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Tools: VS Code, Postman, Git, GitHub, </a:t>
            </a:r>
            <a:r>
              <a:rPr lang="en-US" dirty="0" err="1"/>
              <a:t>npm</a:t>
            </a:r>
            <a:r>
              <a:rPr lang="en-US" dirty="0"/>
              <a:t>, pip</a:t>
            </a:r>
          </a:p>
        </p:txBody>
      </p:sp>
    </p:spTree>
    <p:extLst>
      <p:ext uri="{BB962C8B-B14F-4D97-AF65-F5344CB8AC3E}">
        <p14:creationId xmlns:p14="http://schemas.microsoft.com/office/powerpoint/2010/main" val="210510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371600"/>
            <a:ext cx="10515600" cy="873911"/>
          </a:xfrm>
        </p:spPr>
        <p:txBody>
          <a:bodyPr/>
          <a:lstStyle/>
          <a:p>
            <a:r>
              <a:rPr lang="en-US" b="1" dirty="0"/>
              <a:t>Methodology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F97CD-8E02-8621-140F-20692C52BE48}"/>
              </a:ext>
            </a:extLst>
          </p:cNvPr>
          <p:cNvSpPr txBox="1"/>
          <p:nvPr/>
        </p:nvSpPr>
        <p:spPr>
          <a:xfrm>
            <a:off x="569360" y="2225819"/>
            <a:ext cx="110892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Requirement Analysis &amp; Planning: Defined project goals, user roles (RBAC), and technical scopes for TaskOps, NewsTV19, and </a:t>
            </a:r>
            <a:r>
              <a:rPr lang="en-US" dirty="0" err="1"/>
              <a:t>Revora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Architecture Design: Designed the MERN stack structure, MongoDB schemas, and API endpoints. Planned the integration of external services like AWS S3 and RSS proxies.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Component-Based Development: Developed modular, reusable UI components using React &amp; Vite and built scalable RESTful APIs with Node.js &amp; Express.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Integration &amp; AI Implementation: Integrated real-time sync with Socket.io, data enrichment with Async Scrapers, and decision intelligence with Mistral LLM.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&amp; Refinement: Conducted performance audits, optimized database queries, and refined the UI using Tailwind CSS v4.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Deployment &amp; Documentation: Containerized applications using Docker and deployed the backend to Fly.io, followed by drafting technical interim reports.</a:t>
            </a:r>
          </a:p>
        </p:txBody>
      </p:sp>
    </p:spTree>
    <p:extLst>
      <p:ext uri="{BB962C8B-B14F-4D97-AF65-F5344CB8AC3E}">
        <p14:creationId xmlns:p14="http://schemas.microsoft.com/office/powerpoint/2010/main" val="377972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8A61-439A-9B31-9EE0-7DA20C2FB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ED4B-5158-3D13-CD85-D31A0903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12</a:t>
            </a:fld>
            <a:endParaRPr lang="en-IN" dirty="0"/>
          </a:p>
        </p:txBody>
      </p:sp>
      <p:pic>
        <p:nvPicPr>
          <p:cNvPr id="1025" name="Picture 91">
            <a:extLst>
              <a:ext uri="{FF2B5EF4-FFF2-40B4-BE49-F238E27FC236}">
                <a16:creationId xmlns:a16="http://schemas.microsoft.com/office/drawing/2014/main" id="{9EA44809-186C-D164-C4D2-BEC00DA55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4986338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4E146427-5AAF-463C-8C44-F402E4E8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257800"/>
            <a:ext cx="28956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TaskOps admin dashboard evidence</a:t>
            </a:r>
            <a:endParaRPr kumimoji="0" lang="en-US" altLang="en-US" sz="1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175F42-716F-457B-8BCF-9663CA4EE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05000"/>
            <a:ext cx="6027555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A88FCB-FA4D-9F8E-5186-EA24DA4F625B}"/>
              </a:ext>
            </a:extLst>
          </p:cNvPr>
          <p:cNvSpPr txBox="1"/>
          <p:nvPr/>
        </p:nvSpPr>
        <p:spPr>
          <a:xfrm>
            <a:off x="5933326" y="5291177"/>
            <a:ext cx="6110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Task Board</a:t>
            </a:r>
            <a:endParaRPr kumimoji="0" lang="en-US" altLang="en-US" sz="40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93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0ACA-4308-CD8D-40C2-9C942E4D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8052-2D0D-C2B8-6BEE-27B73520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5415D7-6C9C-DD3F-99B7-D0CDD1616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287000" cy="516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B1475-087D-D6A2-702F-231AC639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83D8A-1B05-0C77-41AC-3ED79C6F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E6F6F3-7436-D0BC-4F51-1A073BF76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800"/>
            <a:ext cx="9677400" cy="46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7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83FD-328D-3E80-1487-4ECAD536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4D049-217C-F3C2-59E8-EEF49C20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15</a:t>
            </a:fld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95A1BE-2B47-B9C7-5D3F-34BDC96A3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906000" cy="473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0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8CE15-BCA6-AD4F-3C8F-AF2C18B6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C7788-AC2E-C2F2-0392-F3B0CB64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16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480AF-B65B-4092-E066-B115A5E3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044"/>
            <a:ext cx="12192000" cy="565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2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9AA2-0DE6-17FB-81CE-7249E7AE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1838D-777E-78D9-2D53-8594A7F23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6" y="1228683"/>
            <a:ext cx="12134474" cy="56314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B0F00-F6C1-40C3-0132-F47948D8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95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Screenshots of Results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18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F748BF-8D13-F3CE-47B6-15A4D3C0D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57400"/>
            <a:ext cx="5336962" cy="2237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4F7898-18CF-2DA3-055D-01FE5A8D1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784" y="685800"/>
            <a:ext cx="5135216" cy="24436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1D7766-619C-586F-5333-58C7EC938D41}"/>
              </a:ext>
            </a:extLst>
          </p:cNvPr>
          <p:cNvSpPr txBox="1"/>
          <p:nvPr/>
        </p:nvSpPr>
        <p:spPr>
          <a:xfrm>
            <a:off x="2133600" y="4109815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Revora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AC8B5A-A02A-E3D4-B767-A5F64AA218B6}"/>
              </a:ext>
            </a:extLst>
          </p:cNvPr>
          <p:cNvSpPr txBox="1"/>
          <p:nvPr/>
        </p:nvSpPr>
        <p:spPr>
          <a:xfrm>
            <a:off x="9753600" y="2701402"/>
            <a:ext cx="137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NewsTv19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366945-645B-AC90-10ED-25A3D223B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678" y="3276600"/>
            <a:ext cx="5726514" cy="27245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611C40-694F-BD87-0C18-EE036CFAEBDE}"/>
              </a:ext>
            </a:extLst>
          </p:cNvPr>
          <p:cNvSpPr txBox="1"/>
          <p:nvPr/>
        </p:nvSpPr>
        <p:spPr>
          <a:xfrm>
            <a:off x="8483533" y="5961333"/>
            <a:ext cx="1140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TaskOps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7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 and Analysis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83E7A-A818-D3F6-9400-7D6476E2C7BD}"/>
              </a:ext>
            </a:extLst>
          </p:cNvPr>
          <p:cNvSpPr txBox="1"/>
          <p:nvPr/>
        </p:nvSpPr>
        <p:spPr>
          <a:xfrm>
            <a:off x="914400" y="2209800"/>
            <a:ext cx="88558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egoe WPC"/>
              </a:rPr>
              <a:t>TaskOps (Project Efficiency):</a:t>
            </a:r>
            <a:endParaRPr lang="en-US" b="0" i="0" dirty="0">
              <a:effectLst/>
              <a:latin typeface="Segoe WPC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Successfully implemented a </a:t>
            </a:r>
            <a:r>
              <a:rPr lang="en-US" b="1" i="0" dirty="0">
                <a:effectLst/>
                <a:latin typeface="Segoe WPC"/>
              </a:rPr>
              <a:t>single source of truth</a:t>
            </a:r>
            <a:r>
              <a:rPr lang="en-US" b="0" i="0" dirty="0">
                <a:effectLst/>
                <a:latin typeface="Segoe WPC"/>
              </a:rPr>
              <a:t> for team tasks, reducing status-check meetings by providing real-time visibility.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Achieved </a:t>
            </a:r>
            <a:r>
              <a:rPr lang="en-US" b="1" i="0" dirty="0">
                <a:effectLst/>
                <a:latin typeface="Segoe WPC"/>
              </a:rPr>
              <a:t>&lt;200ms latency</a:t>
            </a:r>
            <a:r>
              <a:rPr lang="en-US" b="0" i="0" dirty="0">
                <a:effectLst/>
                <a:latin typeface="Segoe WPC"/>
              </a:rPr>
              <a:t> for task updates and notifications using Socket.io.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egoe WPC"/>
              </a:rPr>
              <a:t>NewsTV19 (Data Quality):</a:t>
            </a:r>
            <a:endParaRPr lang="en-US" b="0" i="0" dirty="0">
              <a:effectLst/>
              <a:latin typeface="Segoe WPC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egoe WPC"/>
              </a:rPr>
              <a:t>95%+ Image Coverage:</a:t>
            </a:r>
            <a:r>
              <a:rPr lang="en-US" b="0" i="0" dirty="0">
                <a:effectLst/>
                <a:latin typeface="Segoe WPC"/>
              </a:rPr>
              <a:t> The Async OG-Scraper successfully enriched articles that lacked thumbnails in raw RSS feeds.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egoe WPC"/>
              </a:rPr>
              <a:t>30% Data Deduplication:</a:t>
            </a:r>
            <a:r>
              <a:rPr lang="en-US" b="0" i="0" dirty="0">
                <a:effectLst/>
                <a:latin typeface="Segoe WPC"/>
              </a:rPr>
              <a:t> Effectively filtered redundant headlines across 20+ overlapping global news sources.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effectLst/>
                <a:latin typeface="Segoe WPC"/>
              </a:rPr>
              <a:t>Revora</a:t>
            </a:r>
            <a:r>
              <a:rPr lang="en-US" b="1" i="0" dirty="0">
                <a:effectLst/>
                <a:latin typeface="Segoe WPC"/>
              </a:rPr>
              <a:t> (Intelligence Engine):</a:t>
            </a:r>
            <a:endParaRPr lang="en-US" b="0" i="0" dirty="0">
              <a:effectLst/>
              <a:latin typeface="Segoe WPC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egoe WPC"/>
              </a:rPr>
              <a:t>Automated Guardrails:</a:t>
            </a:r>
            <a:r>
              <a:rPr lang="en-US" b="0" i="0" dirty="0">
                <a:effectLst/>
                <a:latin typeface="Segoe WPC"/>
              </a:rPr>
              <a:t> Successfully implemented a "Quality Gate" that flags 100% of invalid sales data (missing SKUs or negative margins) before analysis.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Segoe WPC"/>
              </a:rPr>
              <a:t>High-Volume Processing:</a:t>
            </a:r>
            <a:r>
              <a:rPr lang="en-US" b="0" i="0" dirty="0">
                <a:effectLst/>
                <a:latin typeface="Segoe WPC"/>
              </a:rPr>
              <a:t> Stream-based CSV ingestion handled </a:t>
            </a:r>
            <a:r>
              <a:rPr lang="en-US" b="1" i="0" dirty="0">
                <a:effectLst/>
                <a:latin typeface="Segoe WPC"/>
              </a:rPr>
              <a:t>1000+ records</a:t>
            </a:r>
            <a:r>
              <a:rPr lang="en-US" b="0" i="0" dirty="0">
                <a:effectLst/>
                <a:latin typeface="Segoe WPC"/>
              </a:rPr>
              <a:t> with minimal memory overhead (&lt;100MB RAM usage).</a:t>
            </a:r>
          </a:p>
        </p:txBody>
      </p:sp>
    </p:spTree>
    <p:extLst>
      <p:ext uri="{BB962C8B-B14F-4D97-AF65-F5344CB8AC3E}">
        <p14:creationId xmlns:p14="http://schemas.microsoft.com/office/powerpoint/2010/main" val="196469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Work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b="1" dirty="0" err="1"/>
              <a:t>Revora</a:t>
            </a:r>
            <a:r>
              <a:rPr lang="en-US" b="1" dirty="0"/>
              <a:t> App (Intelligence Platform)</a:t>
            </a:r>
            <a:endParaRPr lang="en-US" dirty="0"/>
          </a:p>
          <a:p>
            <a:r>
              <a:rPr lang="en-US" b="1" dirty="0"/>
              <a:t>Predictive Forecasting:</a:t>
            </a:r>
            <a:r>
              <a:rPr lang="en-US" dirty="0"/>
              <a:t> Implement time-series analysis to forecast future sales trends and seasonal demand.</a:t>
            </a:r>
          </a:p>
          <a:p>
            <a:r>
              <a:rPr lang="en-US" b="1" dirty="0"/>
              <a:t>Competitor Tracking:</a:t>
            </a:r>
            <a:r>
              <a:rPr lang="en-US" dirty="0"/>
              <a:t> Build a real-time monitoring module to track competitor price changes automatically.</a:t>
            </a:r>
          </a:p>
          <a:p>
            <a:r>
              <a:rPr lang="en-US" b="1" dirty="0"/>
              <a:t>Redis Caching:</a:t>
            </a:r>
            <a:r>
              <a:rPr lang="en-US" dirty="0"/>
              <a:t> Integrate Redis to optimize the performance of complex analytical and simulation queries.</a:t>
            </a:r>
          </a:p>
          <a:p>
            <a:pPr marL="0" indent="0">
              <a:buNone/>
            </a:pPr>
            <a:r>
              <a:rPr lang="en-US" b="1" dirty="0"/>
              <a:t>2. NewsTV19 &amp; TaskOps</a:t>
            </a:r>
            <a:endParaRPr lang="en-US" dirty="0"/>
          </a:p>
          <a:p>
            <a:r>
              <a:rPr lang="en-US" b="1" dirty="0"/>
              <a:t>Personalization:</a:t>
            </a:r>
            <a:r>
              <a:rPr lang="en-US" dirty="0"/>
              <a:t> Add user profiles to NewsTV19 for personalized news feeds and bookmarks.</a:t>
            </a:r>
          </a:p>
          <a:p>
            <a:r>
              <a:rPr lang="en-US" b="1" dirty="0"/>
              <a:t>Advanced Analytics:</a:t>
            </a:r>
            <a:r>
              <a:rPr lang="en-US" dirty="0"/>
              <a:t> Introduce burndown charts and project-level velocity tracking in TaskOps.</a:t>
            </a:r>
          </a:p>
          <a:p>
            <a:r>
              <a:rPr lang="en-US" b="1" dirty="0"/>
              <a:t>Mobile Audit:</a:t>
            </a:r>
            <a:r>
              <a:rPr lang="en-US" dirty="0"/>
              <a:t> Perform a comprehensive mobile responsiveness audit to ensure a seamless experience across all devices.</a:t>
            </a:r>
          </a:p>
          <a:p>
            <a:pPr marL="0" indent="0">
              <a:buNone/>
            </a:pPr>
            <a:r>
              <a:rPr lang="en-US" b="1" dirty="0"/>
              <a:t>3. System-Wide Improvements</a:t>
            </a:r>
            <a:endParaRPr lang="en-US" dirty="0"/>
          </a:p>
          <a:p>
            <a:r>
              <a:rPr lang="en-US" b="1" dirty="0"/>
              <a:t>Automated Testing:</a:t>
            </a:r>
            <a:r>
              <a:rPr lang="en-US" dirty="0"/>
              <a:t> Expand unit and integration test coverage using </a:t>
            </a:r>
            <a:r>
              <a:rPr lang="en-US" b="1" dirty="0"/>
              <a:t>Jest</a:t>
            </a:r>
            <a:r>
              <a:rPr lang="en-US" dirty="0"/>
              <a:t> and </a:t>
            </a:r>
            <a:r>
              <a:rPr lang="en-US" b="1" dirty="0" err="1"/>
              <a:t>Supertest</a:t>
            </a:r>
            <a:r>
              <a:rPr lang="en-US" dirty="0"/>
              <a:t>.</a:t>
            </a:r>
          </a:p>
          <a:p>
            <a:r>
              <a:rPr lang="en-US" b="1" dirty="0"/>
              <a:t>CI/CD Pipeline:</a:t>
            </a:r>
            <a:r>
              <a:rPr lang="en-US" dirty="0"/>
              <a:t> Set up </a:t>
            </a:r>
            <a:r>
              <a:rPr lang="en-US" b="1" dirty="0"/>
              <a:t>GitHub Actions</a:t>
            </a:r>
            <a:r>
              <a:rPr lang="en-US" dirty="0"/>
              <a:t> for automated testing and deployment to streamline the production release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734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3CE81-C5DC-73DB-782B-A32455AE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4820-2741-CAB4-E097-CC1285F94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1C796-EA10-B4EA-B805-31BAC729E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Successful Project Delivery:</a:t>
            </a:r>
            <a:r>
              <a:rPr lang="en-US" dirty="0"/>
              <a:t> Completed three distinct full-stack applications—</a:t>
            </a:r>
            <a:r>
              <a:rPr lang="en-US" b="1" dirty="0"/>
              <a:t>TaskOps</a:t>
            </a:r>
            <a:r>
              <a:rPr lang="en-US" dirty="0"/>
              <a:t>, </a:t>
            </a:r>
            <a:r>
              <a:rPr lang="en-US" b="1" dirty="0"/>
              <a:t>NewsTV19</a:t>
            </a:r>
            <a:r>
              <a:rPr lang="en-US" dirty="0"/>
              <a:t>, and </a:t>
            </a:r>
            <a:r>
              <a:rPr lang="en-US" b="1" dirty="0" err="1"/>
              <a:t>Revora</a:t>
            </a:r>
            <a:r>
              <a:rPr lang="en-US" dirty="0"/>
              <a:t>—demonstrating proficiency across the entire software development lifecycle.</a:t>
            </a:r>
          </a:p>
          <a:p>
            <a:r>
              <a:rPr lang="en-US" b="1" dirty="0"/>
              <a:t>Technical Mastery:</a:t>
            </a:r>
            <a:r>
              <a:rPr lang="en-US" dirty="0"/>
              <a:t> Gained deep expertise in the </a:t>
            </a:r>
            <a:r>
              <a:rPr lang="en-US" b="1" dirty="0"/>
              <a:t>MERN stack</a:t>
            </a:r>
            <a:r>
              <a:rPr lang="en-US" dirty="0"/>
              <a:t>, transitioning from independent project creation to contributing to production-ready company codebases.</a:t>
            </a:r>
          </a:p>
          <a:p>
            <a:r>
              <a:rPr lang="en-US" b="1" dirty="0"/>
              <a:t>Bridging the Gap:</a:t>
            </a:r>
            <a:r>
              <a:rPr lang="en-US" dirty="0"/>
              <a:t> Effectively translated complex business requirements into technical solutions, specifically in real-time communication, data enrichment, and AI-driven decision support.</a:t>
            </a:r>
          </a:p>
          <a:p>
            <a:r>
              <a:rPr lang="en-US" b="1" dirty="0"/>
              <a:t>Professional Growth:</a:t>
            </a:r>
            <a:r>
              <a:rPr lang="en-US" dirty="0"/>
              <a:t> Developed critical industry skills, including version control (Git), Docker containerization, and agile iterative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18A68-70A2-C8F9-FE2C-C2E4B5B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372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22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3C52D-08D6-571C-B6A8-658EE93B2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71" y="2438400"/>
            <a:ext cx="9030429" cy="210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5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STM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ME PPT Template" id="{0F0D7AA8-361A-4F37-8516-0EFE3419025B}" vid="{8744BC16-5615-46D5-8B96-B46A56991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472A6CF934448B7C0EB40DD4CDD91" ma:contentTypeVersion="3" ma:contentTypeDescription="Create a new document." ma:contentTypeScope="" ma:versionID="f496ccd1c6c1d72d08a938e0a26a6e51">
  <xsd:schema xmlns:xsd="http://www.w3.org/2001/XMLSchema" xmlns:xs="http://www.w3.org/2001/XMLSchema" xmlns:p="http://schemas.microsoft.com/office/2006/metadata/properties" xmlns:ns2="341cbb83-ad65-478b-b954-8461bf8b895f" targetNamespace="http://schemas.microsoft.com/office/2006/metadata/properties" ma:root="true" ma:fieldsID="95f1cfa59eb76804e88aeec9f5a62d7a" ns2:_="">
    <xsd:import namespace="341cbb83-ad65-478b-b954-8461bf8b89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cbb83-ad65-478b-b954-8461bf8b89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EA7656-A543-488A-A503-FF369EF471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D45C4B-F26A-4B8A-B814-02BB28036A8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86E220B-C1BF-4355-BF75-776557192D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1cbb83-ad65-478b-b954-8461bf8b89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STME PPT Template</Template>
  <TotalTime>623</TotalTime>
  <Words>1355</Words>
  <Application>Microsoft Office PowerPoint</Application>
  <PresentationFormat>Widescreen</PresentationFormat>
  <Paragraphs>206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Arial</vt:lpstr>
      <vt:lpstr>Arial Narrow</vt:lpstr>
      <vt:lpstr>Calibri</vt:lpstr>
      <vt:lpstr>Calibri (MS)</vt:lpstr>
      <vt:lpstr>Calibri (MS) Bold</vt:lpstr>
      <vt:lpstr>Calibri Light</vt:lpstr>
      <vt:lpstr>Segoe WPC</vt:lpstr>
      <vt:lpstr>Times New Roman</vt:lpstr>
      <vt:lpstr>STME Theme</vt:lpstr>
      <vt:lpstr>Revora, NewsTv19 &amp; Task-Ops</vt:lpstr>
      <vt:lpstr>Table of Content</vt:lpstr>
      <vt:lpstr>Internship Overview</vt:lpstr>
      <vt:lpstr>Abstract — Foundational &amp; Collaborative Projects</vt:lpstr>
      <vt:lpstr>Abstract — Foundational &amp; Collaborative Projects</vt:lpstr>
      <vt:lpstr>PowerPoint Presentation</vt:lpstr>
      <vt:lpstr>PowerPoint Presentation</vt:lpstr>
      <vt:lpstr>PowerPoint Presentation</vt:lpstr>
      <vt:lpstr>PowerPoint Presentation</vt:lpstr>
      <vt:lpstr>Hardware and Software used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Screenshots of Results</vt:lpstr>
      <vt:lpstr>Result and Analysis</vt:lpstr>
      <vt:lpstr>Future Work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Electrostatics</dc:title>
  <dc:creator>Divyang Jadav</dc:creator>
  <cp:lastModifiedBy>Pranay .</cp:lastModifiedBy>
  <cp:revision>192</cp:revision>
  <cp:lastPrinted>2019-07-19T07:29:11Z</cp:lastPrinted>
  <dcterms:created xsi:type="dcterms:W3CDTF">2019-09-30T10:49:12Z</dcterms:created>
  <dcterms:modified xsi:type="dcterms:W3CDTF">2026-05-08T20:55:30Z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0x010100AEA472A6CF934448B7C0EB40DD4CDD91</vt:lpwstr>
  </property>
</Properties>
</file>