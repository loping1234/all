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Sheet1!$A$2:$A$6</c:f>
              <c:strCache>
                <c:ptCount val="5"/>
                <c:pt idx="0">
                  <c:v>Terrible</c:v>
                </c:pt>
                <c:pt idx="1">
                  <c:v>Bad</c:v>
                </c:pt>
                <c:pt idx="2">
                  <c:v>Neutral</c:v>
                </c:pt>
                <c:pt idx="3">
                  <c:v>Good</c:v>
                </c:pt>
                <c:pt idx="4">
                  <c:v>Terrific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36619</c:v>
                </c:pt>
                <c:pt idx="1">
                  <c:v>76215</c:v>
                </c:pt>
                <c:pt idx="2">
                  <c:v>5373</c:v>
                </c:pt>
                <c:pt idx="3">
                  <c:v>3058</c:v>
                </c:pt>
                <c:pt idx="4">
                  <c:v>36254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90F22"/>
          </a:solidFill>
          <a:ln>
            <a:solidFill>
              <a:srgbClr val="090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1168"/>
            <a:ext cx="1023431" cy="429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92608"/>
            <a:ext cx="61264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0656" y="283464"/>
            <a:ext cx="1508760" cy="256032"/>
          </a:xfrm>
          <a:prstGeom prst="roundRect">
            <a:avLst/>
          </a:prstGeom>
          <a:solidFill>
            <a:srgbClr val="FFF2F2"/>
          </a:solidFill>
          <a:ln w="7620"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15468"/>
            <a:ext cx="1399031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A41C30"/>
                </a:solidFill>
                <a:latin typeface="Aptos"/>
              </a:rPr>
              <a:t>INDUSTRY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420624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200" b="1">
                <a:solidFill>
                  <a:srgbClr val="0F172A"/>
                </a:solidFill>
                <a:latin typeface="Aptos"/>
              </a:rPr>
              <a:t>Revora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66543"/>
            <a:ext cx="6766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0">
                <a:solidFill>
                  <a:srgbClr val="475569"/>
                </a:solidFill>
                <a:latin typeface="Aptos"/>
              </a:rPr>
              <a:t>Dynamic Pricing &amp; Demand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697480"/>
            <a:ext cx="6766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475569"/>
                </a:solidFill>
                <a:latin typeface="Aptos"/>
              </a:rPr>
              <a:t>A MERN-based decision-support platform that turns messy sales data into explainable, guarded price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417320"/>
            <a:ext cx="1554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64424" y="1545336"/>
            <a:ext cx="12618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DECISION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4424" y="1755648"/>
            <a:ext cx="12618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ptos"/>
              </a:rPr>
              <a:t>157,519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4424" y="2167128"/>
            <a:ext cx="12618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Generated decision-quality artifact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417320"/>
            <a:ext cx="1554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01784" y="1545336"/>
            <a:ext cx="12618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1784" y="1755648"/>
            <a:ext cx="12618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6A34A"/>
                </a:solidFill>
                <a:latin typeface="Aptos"/>
              </a:rPr>
              <a:t>86.28%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01784" y="2167128"/>
            <a:ext cx="12618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Time-based holdout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770632"/>
            <a:ext cx="1554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4424" y="2898648"/>
            <a:ext cx="12618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MACRO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4" y="3108960"/>
            <a:ext cx="12618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7C3AED"/>
                </a:solidFill>
                <a:latin typeface="Aptos"/>
              </a:rPr>
              <a:t>0.7196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4424" y="3520439"/>
            <a:ext cx="12618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Class-balanced metric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2770632"/>
            <a:ext cx="1554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01784" y="2898648"/>
            <a:ext cx="12618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1784" y="3108960"/>
            <a:ext cx="12618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ptos"/>
              </a:rPr>
              <a:t>Passed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1784" y="3520439"/>
            <a:ext cx="12618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Frontend production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096512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STUDENT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4078224"/>
            <a:ext cx="6126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0F172A"/>
                </a:solidFill>
                <a:latin typeface="Aptos"/>
              </a:rPr>
              <a:t>Pranay Kumar | Roll No. A149 | SAP 70022200357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443984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1" y="4425696"/>
            <a:ext cx="6126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0F172A"/>
                </a:solidFill>
                <a:latin typeface="Aptos"/>
              </a:rPr>
              <a:t>B.Tech Computer Engineering | Semester VIII | AY 2025-26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4791456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INTERNAL MENTOR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1" y="4773168"/>
            <a:ext cx="6126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0F172A"/>
                </a:solidFill>
                <a:latin typeface="Aptos"/>
              </a:rPr>
              <a:t>Dr. Preeti Gupta, STME NMIMS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138928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INDUSTRY MENTOR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120640"/>
            <a:ext cx="6126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0F172A"/>
                </a:solidFill>
                <a:latin typeface="Aptos"/>
              </a:rPr>
              <a:t>Mr. Kanwar Pal Singh Rathore, Tech Biz 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5486400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COMPANY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4831" y="5468112"/>
            <a:ext cx="6126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0F172A"/>
                </a:solidFill>
                <a:latin typeface="Aptos"/>
              </a:rPr>
              <a:t>Tech Biz Solution, Jodhpur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879592"/>
            <a:ext cx="1234440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971032"/>
            <a:ext cx="105156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1">
                <a:solidFill>
                  <a:srgbClr val="2563EB"/>
                </a:solidFill>
                <a:latin typeface="Aptos"/>
              </a:rPr>
              <a:t>CSV/API</a:t>
            </a:r>
          </a:p>
        </p:txBody>
      </p:sp>
      <p:sp>
        <p:nvSpPr>
          <p:cNvPr id="38" name="Chevron 37"/>
          <p:cNvSpPr/>
          <p:nvPr/>
        </p:nvSpPr>
        <p:spPr>
          <a:xfrm>
            <a:off x="2249424" y="5971032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487168" y="5879592"/>
            <a:ext cx="1234440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8608" y="5971032"/>
            <a:ext cx="105156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1">
                <a:solidFill>
                  <a:srgbClr val="0D9488"/>
                </a:solidFill>
                <a:latin typeface="Aptos"/>
              </a:rPr>
              <a:t>Quality</a:t>
            </a:r>
          </a:p>
        </p:txBody>
      </p:sp>
      <p:sp>
        <p:nvSpPr>
          <p:cNvPr id="41" name="Chevron 40"/>
          <p:cNvSpPr/>
          <p:nvPr/>
        </p:nvSpPr>
        <p:spPr>
          <a:xfrm>
            <a:off x="3822191" y="5971032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059935" y="5879592"/>
            <a:ext cx="1234440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51375" y="5971032"/>
            <a:ext cx="105156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1">
                <a:solidFill>
                  <a:srgbClr val="7C3AED"/>
                </a:solidFill>
                <a:latin typeface="Aptos"/>
              </a:rPr>
              <a:t>Models</a:t>
            </a:r>
          </a:p>
        </p:txBody>
      </p:sp>
      <p:sp>
        <p:nvSpPr>
          <p:cNvPr id="44" name="Chevron 43"/>
          <p:cNvSpPr/>
          <p:nvPr/>
        </p:nvSpPr>
        <p:spPr>
          <a:xfrm>
            <a:off x="5394959" y="5971032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32703" y="5879592"/>
            <a:ext cx="1234440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24143" y="5971032"/>
            <a:ext cx="105156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1">
                <a:solidFill>
                  <a:srgbClr val="D97706"/>
                </a:solidFill>
                <a:latin typeface="Aptos"/>
              </a:rPr>
              <a:t>Guardrails</a:t>
            </a:r>
          </a:p>
        </p:txBody>
      </p:sp>
      <p:sp>
        <p:nvSpPr>
          <p:cNvPr id="47" name="Chevron 46"/>
          <p:cNvSpPr/>
          <p:nvPr/>
        </p:nvSpPr>
        <p:spPr>
          <a:xfrm>
            <a:off x="6967727" y="5971032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205471" y="5879592"/>
            <a:ext cx="1234440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96911" y="5971032"/>
            <a:ext cx="105156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1">
                <a:solidFill>
                  <a:srgbClr val="16A34A"/>
                </a:solidFill>
                <a:latin typeface="Aptos"/>
              </a:rPr>
              <a:t>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Pricing data exists, but the decision workflow is usually fragmented.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65376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41C30"/>
                </a:solidFill>
                <a:latin typeface="Aptos"/>
              </a:rPr>
              <a:t>Core 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48840"/>
            <a:ext cx="48006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Manual price changes can ignore demand sensitivity, inventory risk, competitor gaps, and data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result is not just a bad number. It is an unaudited business decision with unclear assumptions.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682496"/>
            <a:ext cx="4617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682496"/>
            <a:ext cx="73152" cy="7498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792224"/>
            <a:ext cx="436168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Messy spreadsheet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66544"/>
            <a:ext cx="43616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duplicate rows, missing cost, inconsistent products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85048" y="2432304"/>
            <a:ext cx="0" cy="219456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 rot="5400000">
            <a:off x="8293608" y="2468880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53328" y="2706624"/>
            <a:ext cx="4617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53328" y="2706624"/>
            <a:ext cx="73152" cy="7498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816352"/>
            <a:ext cx="436168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Hidden demand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90672"/>
            <a:ext cx="43616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price changes are not tied to quantity movement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85048" y="3456432"/>
            <a:ext cx="0" cy="219455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 rot="5400000">
            <a:off x="8293608" y="3493008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53328" y="3730752"/>
            <a:ext cx="46177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3328" y="3730752"/>
            <a:ext cx="73152" cy="74980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840480"/>
            <a:ext cx="436168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Unsafe 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14800"/>
            <a:ext cx="43616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no guardrails for below-cost or extreme prices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828032"/>
            <a:ext cx="10058400" cy="932688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983480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D97706"/>
                </a:solidFill>
                <a:latin typeface="Aptos"/>
              </a:rPr>
              <a:t>Why it matters</a:t>
            </a:r>
          </a:p>
        </p:txBody>
      </p:sp>
      <p:sp>
        <p:nvSpPr>
          <p:cNvPr id="31" name="Oval 30"/>
          <p:cNvSpPr/>
          <p:nvPr/>
        </p:nvSpPr>
        <p:spPr>
          <a:xfrm>
            <a:off x="960120" y="5248656"/>
            <a:ext cx="73152" cy="7315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5175504"/>
            <a:ext cx="8979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90" b="0">
                <a:solidFill>
                  <a:srgbClr val="475569"/>
                </a:solidFill>
                <a:latin typeface="Aptos"/>
              </a:rPr>
              <a:t>Retail and service businesses need price decisions that protect margin and inventory.</a:t>
            </a:r>
          </a:p>
        </p:txBody>
      </p:sp>
      <p:sp>
        <p:nvSpPr>
          <p:cNvPr id="33" name="Oval 32"/>
          <p:cNvSpPr/>
          <p:nvPr/>
        </p:nvSpPr>
        <p:spPr>
          <a:xfrm>
            <a:off x="960120" y="5413248"/>
            <a:ext cx="73152" cy="7315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" y="5340096"/>
            <a:ext cx="8979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90" b="0">
                <a:solidFill>
                  <a:srgbClr val="475569"/>
                </a:solidFill>
                <a:latin typeface="Aptos"/>
              </a:rPr>
              <a:t>Managers must understand the reason for each recommendation before trusting it.</a:t>
            </a:r>
          </a:p>
        </p:txBody>
      </p:sp>
      <p:sp>
        <p:nvSpPr>
          <p:cNvPr id="35" name="Oval 34"/>
          <p:cNvSpPr/>
          <p:nvPr/>
        </p:nvSpPr>
        <p:spPr>
          <a:xfrm>
            <a:off x="960120" y="5577840"/>
            <a:ext cx="73152" cy="7315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" y="5504688"/>
            <a:ext cx="8979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90" b="0">
                <a:solidFill>
                  <a:srgbClr val="475569"/>
                </a:solidFill>
                <a:latin typeface="Aptos"/>
              </a:rPr>
              <a:t>A final-year implementation project must show real workflows, not only a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Objectives &amp; Expected Outcomes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Six practical goals guide the Revora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755648"/>
            <a:ext cx="50749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1920240"/>
            <a:ext cx="45720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048255"/>
            <a:ext cx="34747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1901952"/>
            <a:ext cx="397763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0F172A"/>
                </a:solidFill>
                <a:latin typeface="Aptos"/>
              </a:rPr>
              <a:t>Authenticated pricing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194560"/>
            <a:ext cx="4005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Admin/demo login, JWT sessions, workspace-aware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1755648"/>
            <a:ext cx="50749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1920240"/>
            <a:ext cx="457200" cy="457200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2048255"/>
            <a:ext cx="34747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1901952"/>
            <a:ext cx="397763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0F172A"/>
                </a:solidFill>
                <a:latin typeface="Aptos"/>
              </a:rPr>
              <a:t>CSV ingestion and quality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6" y="2194560"/>
            <a:ext cx="4005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Mapping, staging, duplicate checks, row issues, data fitness.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3017520"/>
            <a:ext cx="50749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" y="3182112"/>
            <a:ext cx="457200" cy="4572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3310127"/>
            <a:ext cx="34747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3163824"/>
            <a:ext cx="397763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0F172A"/>
                </a:solidFill>
                <a:latin typeface="Aptos"/>
              </a:rPr>
              <a:t>Demand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456432"/>
            <a:ext cx="4005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Price-response models using product, segment, inventory, competitor context.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3017520"/>
            <a:ext cx="50749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9672" y="3182112"/>
            <a:ext cx="457200" cy="45720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3310127"/>
            <a:ext cx="34747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3176" y="3163824"/>
            <a:ext cx="397763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0F172A"/>
                </a:solidFill>
                <a:latin typeface="Aptos"/>
              </a:rPr>
              <a:t>Scenario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6" y="3456432"/>
            <a:ext cx="4005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Demand, revenue, profit, confidence, and warnings for tested prices.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" y="4279392"/>
            <a:ext cx="50749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7552" y="4443983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" y="4572000"/>
            <a:ext cx="34747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1056" y="4425696"/>
            <a:ext cx="397763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0F172A"/>
                </a:solidFill>
                <a:latin typeface="Aptos"/>
              </a:rPr>
              <a:t>Guarded 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1056" y="4718304"/>
            <a:ext cx="4005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Good range, avoid range, competitor distance, business objective.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4279392"/>
            <a:ext cx="50749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19672" y="4443983"/>
            <a:ext cx="457200" cy="457200"/>
          </a:xfrm>
          <a:prstGeom prst="ellipse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4536" y="4572000"/>
            <a:ext cx="34747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4425696"/>
            <a:ext cx="397763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1">
                <a:solidFill>
                  <a:srgbClr val="0F172A"/>
                </a:solidFill>
                <a:latin typeface="Aptos"/>
              </a:rPr>
              <a:t>Results export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23176" y="4718304"/>
            <a:ext cx="4005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Dashboards, ML Decision Space, XLSX/CSV reports for review.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2688" y="5650992"/>
            <a:ext cx="10104120" cy="438912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5568" y="5779008"/>
            <a:ext cx="973836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19" b="1">
                <a:solidFill>
                  <a:srgbClr val="166534"/>
                </a:solidFill>
                <a:latin typeface="Aptos"/>
              </a:rPr>
              <a:t>Expected outcome: an examiner-ready working product with visible UI, data pipeline, explainable recommendations, measurable ML results, and exportable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Industry Relevance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Industry Relevance / Motivation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Revora is positioned as decision support for real business pricing, not blind automation.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1901952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14630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48716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Aptos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788920"/>
            <a:ext cx="15361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475569"/>
                </a:solidFill>
                <a:latin typeface="Aptos"/>
              </a:rPr>
              <a:t>Node, Express, MongoDB, auth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16736" y="2121408"/>
            <a:ext cx="2130552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3310128" y="2011680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30168" y="1901952"/>
            <a:ext cx="438912" cy="43891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2029968"/>
            <a:ext cx="14630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5" y="248716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Aptos"/>
              </a:rPr>
              <a:t>TaskOps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1256" y="2788920"/>
            <a:ext cx="15361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475569"/>
                </a:solidFill>
                <a:latin typeface="Aptos"/>
              </a:rPr>
              <a:t>RBAC, task boards, real-time workflows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05656" y="2121408"/>
            <a:ext cx="2130552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6099048" y="2011680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1901952"/>
            <a:ext cx="438912" cy="43891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029968"/>
            <a:ext cx="14630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48716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Aptos"/>
              </a:rPr>
              <a:t>NewsTv19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0175" y="2788920"/>
            <a:ext cx="15361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475569"/>
                </a:solidFill>
                <a:latin typeface="Aptos"/>
              </a:rPr>
              <a:t>RSS ingestion, search, production codebase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94575" y="2121408"/>
            <a:ext cx="2130553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8887967" y="2011680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08007" y="1901952"/>
            <a:ext cx="438912" cy="438912"/>
          </a:xfrm>
          <a:prstGeom prst="ellipse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4311" y="2029968"/>
            <a:ext cx="14630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5" y="248716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Aptos"/>
              </a:rPr>
              <a:t>Revora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9095" y="2788920"/>
            <a:ext cx="15361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475569"/>
                </a:solidFill>
                <a:latin typeface="Aptos"/>
              </a:rPr>
              <a:t>pricing intelligence and decision quality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868680" y="3730752"/>
          <a:ext cx="102412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120640"/>
              </a:tblGrid>
              <a:tr h="301752">
                <a:tc>
                  <a:txBody>
                    <a:bodyPr/>
                    <a:lstStyle/>
                    <a:p>
                      <a:pPr>
                        <a:defRPr sz="8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Angle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Revora answers it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Business need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Manual pricing needs margin, demand, inventory, and competitor context.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Practical applicability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Retail catalog managers can import CSVs and review safe ranges before acting.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Market fit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Small teams want BI-style guidance without requiring a data-science operator.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Project motivation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Convert internship backend/frontend learning into one analytics product.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96112" y="5596128"/>
            <a:ext cx="1371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A41C30"/>
                </a:solidFill>
                <a:latin typeface="Aptos"/>
              </a:rPr>
              <a:t>Panel answer cue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21408" y="5559552"/>
            <a:ext cx="8138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The system keeps a human in control: it recommends, explains, warns, and exports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Existing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Literature Survey / Existing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gap is not dynamic pricing as a concept; it is trusted execution for messy business data.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1755648"/>
          <a:ext cx="10771632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908"/>
                <a:gridCol w="2692908"/>
                <a:gridCol w="2692908"/>
                <a:gridCol w="2692908"/>
              </a:tblGrid>
              <a:tr h="435254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Approach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Strength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Limitation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Revora response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Manual Excel pricing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Fast and familiar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 model-readiness or guardrail trail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CSV import + quality labels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Generic BI dashboards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Good visualization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Shows what happened, not what price to test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Simulation + recommendation engine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Black-box price tools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Automated suggestions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Weak explainability for academic/SME review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Calculation steps + warnings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435256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Research models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Strong theory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Often assume cleaner data than real SMEs have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Staged imports + safe ranges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04672" y="4370832"/>
            <a:ext cx="5029200" cy="109728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53712"/>
            <a:ext cx="1920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Aptos"/>
              </a:rPr>
              <a:t>Literature motivation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919472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4846320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Dynamic pricing learns from historical demand and price experimentation.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5148072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5074920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Limited experimentation increases the need for confidence and safeguards.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370832"/>
            <a:ext cx="5029200" cy="109728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553712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Aptos"/>
              </a:rPr>
              <a:t>Design implication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4919472"/>
            <a:ext cx="73152" cy="7315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846320"/>
            <a:ext cx="42702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Treat the model as decision support.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5148072"/>
            <a:ext cx="73152" cy="7315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5074920"/>
            <a:ext cx="42702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Expose assumptions, constraints, and exportable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Proposed 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 layered MERN workflow from import to auditable pricing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743200"/>
            <a:ext cx="137160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743200"/>
            <a:ext cx="73152" cy="68580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852928"/>
            <a:ext cx="11155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27248"/>
            <a:ext cx="11155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admin / analyst / examiner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1920240"/>
            <a:ext cx="1874519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7168" y="192024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029968"/>
            <a:ext cx="1618487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React + Vite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304288"/>
            <a:ext cx="1618487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workspaces, dashboards, upload, simulator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920240"/>
            <a:ext cx="18288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1920240"/>
            <a:ext cx="73152" cy="9144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029968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Express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304288"/>
            <a:ext cx="15727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auth, routes, validation,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14032" y="1920240"/>
            <a:ext cx="1874519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14032" y="1920240"/>
            <a:ext cx="73152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2029968"/>
            <a:ext cx="1618487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2304288"/>
            <a:ext cx="1618487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products, sales, batches, models, recommendations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6608" y="1920240"/>
            <a:ext cx="19659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36608" y="1920240"/>
            <a:ext cx="73152" cy="9144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2029968"/>
            <a:ext cx="17099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Python ML 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304288"/>
            <a:ext cx="17099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offline decision-quality training and prediction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87168" y="3703320"/>
            <a:ext cx="1874519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87168" y="3703320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3813048"/>
            <a:ext cx="1618487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CSV/API ingestion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4087368"/>
            <a:ext cx="1618487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mapping, staging, duplicate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3703320"/>
            <a:ext cx="18288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00600" y="3703320"/>
            <a:ext cx="73152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65192" y="3813048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Quality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5192" y="4087368"/>
            <a:ext cx="15727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fitness score, readiness, row issues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14032" y="3703320"/>
            <a:ext cx="1874519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14032" y="3703320"/>
            <a:ext cx="73152" cy="82296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78624" y="3813048"/>
            <a:ext cx="1618487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Pricing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78624" y="4087368"/>
            <a:ext cx="1618487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demand model, simulation, good/avoid ranges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36608" y="3703320"/>
            <a:ext cx="1965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36608" y="3703320"/>
            <a:ext cx="73152" cy="8229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3813048"/>
            <a:ext cx="17099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Reports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087368"/>
            <a:ext cx="17099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XLSX/CSV exports and screenshot evidence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2084831" y="2359152"/>
            <a:ext cx="402337" cy="73152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361688" y="2359152"/>
            <a:ext cx="438912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629400" y="2359152"/>
            <a:ext cx="484632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988552" y="2359152"/>
            <a:ext cx="448056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429000" y="2834640"/>
            <a:ext cx="0" cy="86868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361688" y="4114800"/>
            <a:ext cx="438912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629400" y="4114800"/>
            <a:ext cx="484632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988552" y="4114800"/>
            <a:ext cx="448056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22960" y="5230368"/>
            <a:ext cx="10369296" cy="4754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" y="5385816"/>
            <a:ext cx="1004011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80" b="1">
                <a:solidFill>
                  <a:srgbClr val="0F172A"/>
                </a:solidFill>
                <a:latin typeface="Aptos"/>
              </a:rPr>
              <a:t>Key flow: Import data -&gt; verify fitness -&gt; fit/compare models -&gt; simulate price candidates -&gt; apply trust policy -&gt; store recommendation -&gt; export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Chosen for a full-stack product workflow, not only a model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55648"/>
            <a:ext cx="5102352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55648"/>
            <a:ext cx="5102352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56816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Frontend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395728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322576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React 19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2596896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2523744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Vite 6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" y="279806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724912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Tailwind CSS 4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2999232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2926080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Lucide icons</a:t>
            </a:r>
          </a:p>
        </p:txBody>
      </p:sp>
      <p:sp>
        <p:nvSpPr>
          <p:cNvPr id="21" name="Oval 20"/>
          <p:cNvSpPr/>
          <p:nvPr/>
        </p:nvSpPr>
        <p:spPr>
          <a:xfrm>
            <a:off x="950976" y="3200400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127248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Custom chart components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1755648"/>
            <a:ext cx="5102352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1755648"/>
            <a:ext cx="5102352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56816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Backend/API</a:t>
            </a:r>
          </a:p>
        </p:txBody>
      </p:sp>
      <p:sp>
        <p:nvSpPr>
          <p:cNvPr id="26" name="Oval 25"/>
          <p:cNvSpPr/>
          <p:nvPr/>
        </p:nvSpPr>
        <p:spPr>
          <a:xfrm>
            <a:off x="6528816" y="2395728"/>
            <a:ext cx="73152" cy="7315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2322576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Node.js</a:t>
            </a:r>
          </a:p>
        </p:txBody>
      </p:sp>
      <p:sp>
        <p:nvSpPr>
          <p:cNvPr id="28" name="Oval 27"/>
          <p:cNvSpPr/>
          <p:nvPr/>
        </p:nvSpPr>
        <p:spPr>
          <a:xfrm>
            <a:off x="6528816" y="2596896"/>
            <a:ext cx="73152" cy="7315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2523744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Express</a:t>
            </a:r>
          </a:p>
        </p:txBody>
      </p:sp>
      <p:sp>
        <p:nvSpPr>
          <p:cNvPr id="30" name="Oval 29"/>
          <p:cNvSpPr/>
          <p:nvPr/>
        </p:nvSpPr>
        <p:spPr>
          <a:xfrm>
            <a:off x="6528816" y="2798064"/>
            <a:ext cx="73152" cy="7315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2724912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Mongoose</a:t>
            </a:r>
          </a:p>
        </p:txBody>
      </p:sp>
      <p:sp>
        <p:nvSpPr>
          <p:cNvPr id="32" name="Oval 31"/>
          <p:cNvSpPr/>
          <p:nvPr/>
        </p:nvSpPr>
        <p:spPr>
          <a:xfrm>
            <a:off x="6528816" y="2999232"/>
            <a:ext cx="73152" cy="7315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2926080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Multer</a:t>
            </a:r>
          </a:p>
        </p:txBody>
      </p:sp>
      <p:sp>
        <p:nvSpPr>
          <p:cNvPr id="34" name="Oval 33"/>
          <p:cNvSpPr/>
          <p:nvPr/>
        </p:nvSpPr>
        <p:spPr>
          <a:xfrm>
            <a:off x="6528816" y="3200400"/>
            <a:ext cx="73152" cy="7315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93407" y="3127248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csv-parse</a:t>
            </a:r>
          </a:p>
        </p:txBody>
      </p:sp>
      <p:sp>
        <p:nvSpPr>
          <p:cNvPr id="36" name="Oval 35"/>
          <p:cNvSpPr/>
          <p:nvPr/>
        </p:nvSpPr>
        <p:spPr>
          <a:xfrm>
            <a:off x="6528816" y="3401568"/>
            <a:ext cx="73152" cy="7315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7" y="3328416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ExcelJS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3694176"/>
            <a:ext cx="5102352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" y="3694176"/>
            <a:ext cx="5102352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895344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Data &amp; ML</a:t>
            </a:r>
          </a:p>
        </p:txBody>
      </p:sp>
      <p:sp>
        <p:nvSpPr>
          <p:cNvPr id="41" name="Oval 40"/>
          <p:cNvSpPr/>
          <p:nvPr/>
        </p:nvSpPr>
        <p:spPr>
          <a:xfrm>
            <a:off x="950976" y="4334256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5568" y="4261104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MongoDB</a:t>
            </a:r>
          </a:p>
        </p:txBody>
      </p:sp>
      <p:sp>
        <p:nvSpPr>
          <p:cNvPr id="43" name="Oval 42"/>
          <p:cNvSpPr/>
          <p:nvPr/>
        </p:nvSpPr>
        <p:spPr>
          <a:xfrm>
            <a:off x="950976" y="4535424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5568" y="4462272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Python ML pipeline</a:t>
            </a:r>
          </a:p>
        </p:txBody>
      </p:sp>
      <p:sp>
        <p:nvSpPr>
          <p:cNvPr id="45" name="Oval 44"/>
          <p:cNvSpPr/>
          <p:nvPr/>
        </p:nvSpPr>
        <p:spPr>
          <a:xfrm>
            <a:off x="950976" y="4736592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" y="4663440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scikit-learn RandomForestClassifier</a:t>
            </a:r>
          </a:p>
        </p:txBody>
      </p:sp>
      <p:sp>
        <p:nvSpPr>
          <p:cNvPr id="47" name="Oval 46"/>
          <p:cNvSpPr/>
          <p:nvPr/>
        </p:nvSpPr>
        <p:spPr>
          <a:xfrm>
            <a:off x="950976" y="4937760"/>
            <a:ext cx="73152" cy="731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5568" y="4864608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Generated feature dataset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91072" y="3694176"/>
            <a:ext cx="5102352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91072" y="3694176"/>
            <a:ext cx="5102352" cy="731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3895344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Verification</a:t>
            </a:r>
          </a:p>
        </p:txBody>
      </p:sp>
      <p:sp>
        <p:nvSpPr>
          <p:cNvPr id="52" name="Oval 51"/>
          <p:cNvSpPr/>
          <p:nvPr/>
        </p:nvSpPr>
        <p:spPr>
          <a:xfrm>
            <a:off x="6528816" y="4334256"/>
            <a:ext cx="73152" cy="7315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93407" y="4261104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Unit reliability tests</a:t>
            </a:r>
          </a:p>
        </p:txBody>
      </p:sp>
      <p:sp>
        <p:nvSpPr>
          <p:cNvPr id="54" name="Oval 53"/>
          <p:cNvSpPr/>
          <p:nvPr/>
        </p:nvSpPr>
        <p:spPr>
          <a:xfrm>
            <a:off x="6528816" y="4535424"/>
            <a:ext cx="73152" cy="7315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93407" y="4462272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ML self-test</a:t>
            </a:r>
          </a:p>
        </p:txBody>
      </p:sp>
      <p:sp>
        <p:nvSpPr>
          <p:cNvPr id="56" name="Oval 55"/>
          <p:cNvSpPr/>
          <p:nvPr/>
        </p:nvSpPr>
        <p:spPr>
          <a:xfrm>
            <a:off x="6528816" y="4736592"/>
            <a:ext cx="73152" cy="7315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93407" y="4663440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Production frontend build</a:t>
            </a:r>
          </a:p>
        </p:txBody>
      </p:sp>
      <p:sp>
        <p:nvSpPr>
          <p:cNvPr id="58" name="Oval 57"/>
          <p:cNvSpPr/>
          <p:nvPr/>
        </p:nvSpPr>
        <p:spPr>
          <a:xfrm>
            <a:off x="6528816" y="4937760"/>
            <a:ext cx="73152" cy="7315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93407" y="4864608"/>
            <a:ext cx="4407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Browser/API evidence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914400" y="5486400"/>
          <a:ext cx="1001268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6340"/>
                <a:gridCol w="5006340"/>
              </a:tblGrid>
              <a:tr h="171450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this stack?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MERN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Single JavaScript product layer for UI, API, and data models.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MongoDB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Flexible document storage for variable sales/import records.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Python ML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Keeps offline model training separate from explainable pricing API.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Methodology: Data-to-Decision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implementation follows an auditable path from raw records to final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1426464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07007" y="186537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002536"/>
            <a:ext cx="14630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95728"/>
            <a:ext cx="11521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706624"/>
            <a:ext cx="12070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475569"/>
                </a:solidFill>
                <a:latin typeface="Aptos"/>
              </a:rPr>
              <a:t>CSV/API rows</a:t>
            </a:r>
          </a:p>
        </p:txBody>
      </p:sp>
      <p:sp>
        <p:nvSpPr>
          <p:cNvPr id="15" name="Chevron 14"/>
          <p:cNvSpPr/>
          <p:nvPr/>
        </p:nvSpPr>
        <p:spPr>
          <a:xfrm>
            <a:off x="2286000" y="2542032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96896" y="2148840"/>
            <a:ext cx="1426464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54096" y="186537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8688" y="2002536"/>
            <a:ext cx="14630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2395728"/>
            <a:ext cx="11521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4" y="2706624"/>
            <a:ext cx="12070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475569"/>
                </a:solidFill>
                <a:latin typeface="Aptos"/>
              </a:rPr>
              <a:t>headers + products</a:t>
            </a:r>
          </a:p>
        </p:txBody>
      </p:sp>
      <p:sp>
        <p:nvSpPr>
          <p:cNvPr id="21" name="Chevron 20"/>
          <p:cNvSpPr/>
          <p:nvPr/>
        </p:nvSpPr>
        <p:spPr>
          <a:xfrm>
            <a:off x="4133087" y="2542032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43983" y="2148840"/>
            <a:ext cx="1426464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01183" y="1865376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5" y="2002536"/>
            <a:ext cx="14630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2395728"/>
            <a:ext cx="11521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2706624"/>
            <a:ext cx="12070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475569"/>
                </a:solidFill>
                <a:latin typeface="Aptos"/>
              </a:rPr>
              <a:t>quality + readiness</a:t>
            </a:r>
          </a:p>
        </p:txBody>
      </p:sp>
      <p:sp>
        <p:nvSpPr>
          <p:cNvPr id="27" name="Chevron 26"/>
          <p:cNvSpPr/>
          <p:nvPr/>
        </p:nvSpPr>
        <p:spPr>
          <a:xfrm>
            <a:off x="5980175" y="2542032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91071" y="2148840"/>
            <a:ext cx="1426464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48271" y="1865376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3" y="2002536"/>
            <a:ext cx="14630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2395728"/>
            <a:ext cx="11521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799" y="2706624"/>
            <a:ext cx="12070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475569"/>
                </a:solidFill>
                <a:latin typeface="Aptos"/>
              </a:rPr>
              <a:t>price response</a:t>
            </a:r>
          </a:p>
        </p:txBody>
      </p:sp>
      <p:sp>
        <p:nvSpPr>
          <p:cNvPr id="33" name="Chevron 32"/>
          <p:cNvSpPr/>
          <p:nvPr/>
        </p:nvSpPr>
        <p:spPr>
          <a:xfrm>
            <a:off x="7827263" y="2542032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38159" y="2148840"/>
            <a:ext cx="1426464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59" y="1865376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9951" y="2002536"/>
            <a:ext cx="14630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2395728"/>
            <a:ext cx="11521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Simulate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7" y="2706624"/>
            <a:ext cx="12070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475569"/>
                </a:solidFill>
                <a:latin typeface="Aptos"/>
              </a:rPr>
              <a:t>demand/revenue/profit</a:t>
            </a:r>
          </a:p>
        </p:txBody>
      </p:sp>
      <p:sp>
        <p:nvSpPr>
          <p:cNvPr id="39" name="Chevron 38"/>
          <p:cNvSpPr/>
          <p:nvPr/>
        </p:nvSpPr>
        <p:spPr>
          <a:xfrm>
            <a:off x="9674351" y="2542032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85247" y="2148840"/>
            <a:ext cx="1426464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42447" y="1865376"/>
            <a:ext cx="475488" cy="475488"/>
          </a:xfrm>
          <a:prstGeom prst="ellipse">
            <a:avLst/>
          </a:prstGeom>
          <a:solidFill>
            <a:srgbClr val="A41C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07039" y="2002536"/>
            <a:ext cx="146304" cy="91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22407" y="2395728"/>
            <a:ext cx="11521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Recommend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94975" y="2706624"/>
            <a:ext cx="12070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475569"/>
                </a:solidFill>
                <a:latin typeface="Aptos"/>
              </a:rPr>
              <a:t>guardrails + export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" y="4160520"/>
            <a:ext cx="10104120" cy="3108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" y="4242816"/>
            <a:ext cx="141732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Aptos"/>
              </a:rPr>
              <a:t>Quality controls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70048" y="4242816"/>
            <a:ext cx="8001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duplicate detection, missing-cost checks, stockout exclusion, grouped demand points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0120" y="4663440"/>
            <a:ext cx="10104120" cy="3108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568" y="4745736"/>
            <a:ext cx="141732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Aptos"/>
              </a:rPr>
              <a:t>Model controls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0048" y="4745736"/>
            <a:ext cx="8001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linear/log-log/context-aware choices, backtest summary, reliability labels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" y="5166360"/>
            <a:ext cx="10104120" cy="3108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5568" y="5248656"/>
            <a:ext cx="141732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Aptos"/>
              </a:rPr>
              <a:t>Decision controls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0048" y="5248656"/>
            <a:ext cx="8001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below-cost blocking, extreme-price warnings, good range, avoid range, competitor distance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Implementation Modules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product is split into reviewable modules with clear data ownership.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170078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73152" cy="67665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938528"/>
            <a:ext cx="14447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Import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212848"/>
            <a:ext cx="14447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tracks source, status, mapping, row 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828800"/>
            <a:ext cx="170078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828800"/>
            <a:ext cx="73152" cy="67665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1938528"/>
            <a:ext cx="14447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Sales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2212848"/>
            <a:ext cx="14447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normalized price, quantity, segment,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828800"/>
            <a:ext cx="170078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1828800"/>
            <a:ext cx="73152" cy="67665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1938528"/>
            <a:ext cx="14447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212848"/>
            <a:ext cx="14447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SKU, category, cost, inventory, readiness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749039"/>
            <a:ext cx="170078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3749039"/>
            <a:ext cx="73152" cy="67665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3858768"/>
            <a:ext cx="14447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Demand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4133087"/>
            <a:ext cx="14447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model type, coefficients, backtest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3749039"/>
            <a:ext cx="170078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3749039"/>
            <a:ext cx="73152" cy="676656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5072" y="3858768"/>
            <a:ext cx="14447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5072" y="4133087"/>
            <a:ext cx="14447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tested prices, expected outcomes, trust label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3749039"/>
            <a:ext cx="170078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3749039"/>
            <a:ext cx="73152" cy="67665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6752" y="3858768"/>
            <a:ext cx="14447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Assistant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4133087"/>
            <a:ext cx="14447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chat-derived pricing decisions and labels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627632" y="2167128"/>
            <a:ext cx="1161288" cy="338328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89704" y="2167128"/>
            <a:ext cx="310896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690872" y="2505456"/>
            <a:ext cx="731520" cy="1243583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679192" y="2505456"/>
            <a:ext cx="905256" cy="1243583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529584" y="4087368"/>
            <a:ext cx="310896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41264" y="4087368"/>
            <a:ext cx="310896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001000" y="1810512"/>
            <a:ext cx="3127248" cy="27432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2029968"/>
            <a:ext cx="2514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0F172A"/>
                </a:solidFill>
                <a:latin typeface="Aptos"/>
              </a:rPr>
              <a:t>Real functionality implemented</a:t>
            </a:r>
          </a:p>
        </p:txBody>
      </p:sp>
      <p:sp>
        <p:nvSpPr>
          <p:cNvPr id="42" name="Oval 41"/>
          <p:cNvSpPr/>
          <p:nvPr/>
        </p:nvSpPr>
        <p:spPr>
          <a:xfrm>
            <a:off x="8247888" y="2496312"/>
            <a:ext cx="73152" cy="73152"/>
          </a:xfrm>
          <a:prstGeom prst="ellipse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2423160"/>
            <a:ext cx="2441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CSV upload with field mapping and staged commit</a:t>
            </a:r>
          </a:p>
        </p:txBody>
      </p:sp>
      <p:sp>
        <p:nvSpPr>
          <p:cNvPr id="44" name="Oval 43"/>
          <p:cNvSpPr/>
          <p:nvPr/>
        </p:nvSpPr>
        <p:spPr>
          <a:xfrm>
            <a:off x="8247888" y="2770632"/>
            <a:ext cx="73152" cy="73152"/>
          </a:xfrm>
          <a:prstGeom prst="ellipse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697479"/>
            <a:ext cx="2441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Workspace reset and active dataset controls</a:t>
            </a:r>
          </a:p>
        </p:txBody>
      </p:sp>
      <p:sp>
        <p:nvSpPr>
          <p:cNvPr id="46" name="Oval 45"/>
          <p:cNvSpPr/>
          <p:nvPr/>
        </p:nvSpPr>
        <p:spPr>
          <a:xfrm>
            <a:off x="8247888" y="3044952"/>
            <a:ext cx="73152" cy="73152"/>
          </a:xfrm>
          <a:prstGeom prst="ellipse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2971800"/>
            <a:ext cx="2441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Pricing insights and model-readiness checks</a:t>
            </a:r>
          </a:p>
        </p:txBody>
      </p:sp>
      <p:sp>
        <p:nvSpPr>
          <p:cNvPr id="48" name="Oval 47"/>
          <p:cNvSpPr/>
          <p:nvPr/>
        </p:nvSpPr>
        <p:spPr>
          <a:xfrm>
            <a:off x="8247888" y="3319272"/>
            <a:ext cx="73152" cy="73152"/>
          </a:xfrm>
          <a:prstGeom prst="ellipse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246120"/>
            <a:ext cx="2441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Scenario planner and objective-based recommendation</a:t>
            </a:r>
          </a:p>
        </p:txBody>
      </p:sp>
      <p:sp>
        <p:nvSpPr>
          <p:cNvPr id="50" name="Oval 49"/>
          <p:cNvSpPr/>
          <p:nvPr/>
        </p:nvSpPr>
        <p:spPr>
          <a:xfrm>
            <a:off x="8247888" y="3593591"/>
            <a:ext cx="73152" cy="73152"/>
          </a:xfrm>
          <a:prstGeom prst="ellipse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520439"/>
            <a:ext cx="2441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ML Decision Space with trained classifier metrics</a:t>
            </a:r>
          </a:p>
        </p:txBody>
      </p:sp>
      <p:sp>
        <p:nvSpPr>
          <p:cNvPr id="52" name="Oval 51"/>
          <p:cNvSpPr/>
          <p:nvPr/>
        </p:nvSpPr>
        <p:spPr>
          <a:xfrm>
            <a:off x="8247888" y="3867912"/>
            <a:ext cx="73152" cy="73152"/>
          </a:xfrm>
          <a:prstGeom prst="ellipse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3794760"/>
            <a:ext cx="2441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XLSX + CSV report exports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504688"/>
            <a:ext cx="1920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40" b="1">
                <a:solidFill>
                  <a:srgbClr val="A41C30"/>
                </a:solidFill>
                <a:latin typeface="Aptos"/>
              </a:rPr>
              <a:t>Most important viva point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5468112"/>
            <a:ext cx="81198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The recommendation is not stored as a number only; it stores evidence, assumptions, warnings, and tested alternatives.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Implementation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Implementation Screenshots: Workspace &amp; Import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Real UI evidence from the Revora local browser session.</a:t>
            </a:r>
          </a:p>
        </p:txBody>
      </p:sp>
      <p:pic>
        <p:nvPicPr>
          <p:cNvPr id="10" name="Picture 9" descr="report_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06886"/>
            <a:ext cx="5413248" cy="304072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13232" y="1609344"/>
            <a:ext cx="5413248" cy="3035808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port_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606886"/>
            <a:ext cx="5413248" cy="304072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345936" y="1609344"/>
            <a:ext cx="5413248" cy="3035808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800600"/>
            <a:ext cx="1325880" cy="256032"/>
          </a:xfrm>
          <a:prstGeom prst="roundRect">
            <a:avLst/>
          </a:prstGeom>
          <a:solidFill>
            <a:srgbClr val="EFF6FF"/>
          </a:solidFill>
          <a:ln w="76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832604"/>
            <a:ext cx="121615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Home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4828032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Revenue snapshot, model-ready products, active dataset, and dashboard navigation.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4800600"/>
            <a:ext cx="1508760" cy="256032"/>
          </a:xfrm>
          <a:prstGeom prst="roundRect">
            <a:avLst/>
          </a:prstGeom>
          <a:solidFill>
            <a:srgbClr val="F0FDFA"/>
          </a:solidFill>
          <a:ln w="762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5" y="4832604"/>
            <a:ext cx="1399031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Sales data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4828032"/>
            <a:ext cx="30906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CSV selection, preview mapping, quality review, and commit pipeline.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541264"/>
            <a:ext cx="10058400" cy="43891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5678424"/>
            <a:ext cx="971092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30" b="1">
                <a:solidFill>
                  <a:srgbClr val="0F172A"/>
                </a:solidFill>
                <a:latin typeface="Aptos"/>
              </a:rPr>
              <a:t>Demo talking point: start with dataset reset, upload sales_diverse.csv, then show how Revora converts rows into pricing-ready product groups.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Feature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Implementation Screenshots: Insights, ML &amp; 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Three examiner-visible surfaces prove the pipeline is not just backend code.</a:t>
            </a:r>
          </a:p>
        </p:txBody>
      </p:sp>
      <p:pic>
        <p:nvPicPr>
          <p:cNvPr id="10" name="Picture 9" descr="report_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99" y="1591056"/>
            <a:ext cx="3451065" cy="19385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13232" y="1591056"/>
            <a:ext cx="3429000" cy="1938528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port_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799" y="1591056"/>
            <a:ext cx="3451065" cy="193852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370832" y="1591056"/>
            <a:ext cx="3429000" cy="1938528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port_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7399" y="1591056"/>
            <a:ext cx="3451065" cy="193852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028431" y="1591056"/>
            <a:ext cx="3429000" cy="1938528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3913632"/>
            <a:ext cx="32004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096512"/>
            <a:ext cx="2651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Aptos"/>
              </a:rPr>
              <a:t>Pricing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407408"/>
            <a:ext cx="27432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30 ready combinations, product selection, price-response creation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3984" y="3913632"/>
            <a:ext cx="32004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096512"/>
            <a:ext cx="2651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7C3AED"/>
                </a:solidFill>
                <a:latin typeface="Aptos"/>
              </a:rPr>
              <a:t>ML Decision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407408"/>
            <a:ext cx="27432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157,519 decision rows, 86.3% UI accuracy, feature signals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3913632"/>
            <a:ext cx="32004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4096512"/>
            <a:ext cx="2651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6A34A"/>
                </a:solidFill>
                <a:latin typeface="Aptos"/>
              </a:rPr>
              <a:t>Reports &amp;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4407408"/>
            <a:ext cx="27432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80" b="0">
                <a:solidFill>
                  <a:srgbClr val="475569"/>
                </a:solidFill>
                <a:latin typeface="Aptos"/>
              </a:rPr>
              <a:t>XLSX/CSV reports for dashboard, products, sales,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532120"/>
            <a:ext cx="2103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A41C30"/>
                </a:solidFill>
                <a:latin typeface="Aptos"/>
              </a:rPr>
              <a:t>Real functionality over theory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486400"/>
            <a:ext cx="7863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0F172A"/>
                </a:solidFill>
                <a:latin typeface="Aptos"/>
              </a:rPr>
              <a:t>The screenshots align directly with the demo path: create insight -&gt; inspect ML evidence -&gt; export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Results &amp;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final report includes measured ML output and local verification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572768"/>
            <a:ext cx="1828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00784"/>
            <a:ext cx="15361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TOTAL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11095"/>
            <a:ext cx="15361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ptos"/>
              </a:rPr>
              <a:t>157,519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322576"/>
            <a:ext cx="15361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Generated decision-quality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1488" y="1572768"/>
            <a:ext cx="1828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1700784"/>
            <a:ext cx="15361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TRAINING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1911095"/>
            <a:ext cx="15361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D9488"/>
                </a:solidFill>
                <a:latin typeface="Aptos"/>
              </a:rPr>
              <a:t>126,015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322576"/>
            <a:ext cx="15361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Used for model fitting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9744" y="1572768"/>
            <a:ext cx="1828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1700784"/>
            <a:ext cx="15361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TESTING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1911095"/>
            <a:ext cx="15361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ptos"/>
              </a:rPr>
              <a:t>31,504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322576"/>
            <a:ext cx="15361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Time-based holdout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572768"/>
            <a:ext cx="1828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4304" y="1700784"/>
            <a:ext cx="15361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1911095"/>
            <a:ext cx="15361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6A34A"/>
                </a:solidFill>
                <a:latin typeface="Aptos"/>
              </a:rPr>
              <a:t>86.28%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304" y="2322576"/>
            <a:ext cx="15361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Overall classification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06256" y="1572768"/>
            <a:ext cx="1828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700784"/>
            <a:ext cx="15361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MACRO 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911095"/>
            <a:ext cx="15361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7C3AED"/>
                </a:solidFill>
                <a:latin typeface="Aptos"/>
              </a:rPr>
              <a:t>0.7196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322576"/>
            <a:ext cx="15361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Balanced class quality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4672" y="2999232"/>
          <a:ext cx="5074920" cy="230428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868680" y="2788920"/>
            <a:ext cx="3017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0F172A"/>
                </a:solidFill>
                <a:latin typeface="Aptos"/>
              </a:rPr>
              <a:t>Decision-quality label distribution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91072" y="2999232"/>
          <a:ext cx="49834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</a:tblGrid>
              <a:tr h="460857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</a:tr>
              <a:tr h="460857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ML pipeline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npm run test:ml-pipeline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Passed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460857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Reliability suite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npm run test:reliability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Passed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60857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Frontend build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npm run build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Passed with large chunk warning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46086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UI evidence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Browser screenshots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Captured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345936" y="5468112"/>
            <a:ext cx="914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0" b="1">
                <a:solidFill>
                  <a:srgbClr val="A41C30"/>
                </a:solidFill>
                <a:latin typeface="Aptos"/>
              </a:rP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5431536"/>
            <a:ext cx="39319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90" b="0">
                <a:solidFill>
                  <a:srgbClr val="475569"/>
                </a:solidFill>
                <a:latin typeface="Aptos"/>
              </a:rPr>
              <a:t>The ML result is prototype evidence: useful for viva demonstration, but real client transaction data is required before autonomous production pricing.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Challenges Faced, Risk Controls &amp; Failure 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hardest part was making recommendations safe enough to explain.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1755648"/>
          <a:ext cx="1077163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411480"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Challenge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was done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Panel answer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Varied CSV data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field mapping, staging, duplicate checks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Bad data is stopped before modeling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Sparse price variation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readiness labels and grouped demand thresholds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Some products remain summary-only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Unsafe prices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cost guardrails, range warnings, avoid band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Below-cost and extreme prices are flagged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API/server failure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health route, user-visible errors, local demo backup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Demo can continue with screenshots/recording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Performance growth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build check plus future code splitting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Large chunk warning is known and scoped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932688" y="4736592"/>
            <a:ext cx="3063240" cy="78638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919472"/>
            <a:ext cx="1005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Aptos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175504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JWT auth, protected routes, API-key ingestion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4568" y="4736592"/>
            <a:ext cx="3063240" cy="78638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4919472"/>
            <a:ext cx="1005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6A34A"/>
                </a:solidFill>
                <a:latin typeface="Aptos"/>
              </a:rPr>
              <a:t>Scalability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5175504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MongoDB indexes, staged imports, report exports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4736592"/>
            <a:ext cx="3063240" cy="78638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4919472"/>
            <a:ext cx="1005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A41C30"/>
                </a:solidFill>
                <a:latin typeface="Aptos"/>
              </a:rPr>
              <a:t>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5175504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fitness score, warnings, model limits, human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Scalability &amp; 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Next work moves Revora from examiner-ready prototype toward production decision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93392"/>
            <a:ext cx="224942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21992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2563EB"/>
                </a:solidFill>
                <a:latin typeface="Aptos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0">
                <a:solidFill>
                  <a:srgbClr val="475569"/>
                </a:solidFill>
                <a:latin typeface="Aptos"/>
              </a:rPr>
              <a:t>Local MERN demo, CSV workflow, guarded recommendations</a:t>
            </a:r>
          </a:p>
        </p:txBody>
      </p:sp>
      <p:sp>
        <p:nvSpPr>
          <p:cNvPr id="13" name="Chevron 12"/>
          <p:cNvSpPr/>
          <p:nvPr/>
        </p:nvSpPr>
        <p:spPr>
          <a:xfrm>
            <a:off x="3200400" y="2395728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1993392"/>
            <a:ext cx="224942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221992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16A34A"/>
                </a:solidFill>
                <a:latin typeface="Aptos"/>
              </a:rPr>
              <a:t>Near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542032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0">
                <a:solidFill>
                  <a:srgbClr val="475569"/>
                </a:solidFill>
                <a:latin typeface="Aptos"/>
              </a:rPr>
              <a:t>Real client transaction training + A/B testing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5943600" y="2395728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993392"/>
            <a:ext cx="224942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21992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0D9488"/>
                </a:solidFill>
                <a:latin typeface="Aptos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42032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0">
                <a:solidFill>
                  <a:srgbClr val="475569"/>
                </a:solidFill>
                <a:latin typeface="Aptos"/>
              </a:rPr>
              <a:t>ERP/POS imports, marketplace connectors, scheduled reports</a:t>
            </a:r>
          </a:p>
        </p:txBody>
      </p:sp>
      <p:sp>
        <p:nvSpPr>
          <p:cNvPr id="21" name="Chevron 20"/>
          <p:cNvSpPr/>
          <p:nvPr/>
        </p:nvSpPr>
        <p:spPr>
          <a:xfrm>
            <a:off x="8686800" y="2395728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993392"/>
            <a:ext cx="2249424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221992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A41C30"/>
                </a:solidFill>
                <a:latin typeface="Aptos"/>
              </a:rP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542032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0" b="0">
                <a:solidFill>
                  <a:srgbClr val="475569"/>
                </a:solidFill>
                <a:latin typeface="Aptos"/>
              </a:rPr>
              <a:t>cloud deployment, stronger policies, code splitting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914400" y="3712463"/>
          <a:ext cx="101498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266700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Priority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Enhancement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Benefit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Train with real client data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Improves reliability and production relevance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Controlled price experiments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Separates correlation from elasticity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Route-level code splitting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Improves frontend load performance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ERP/POS imports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Reduces manual CSV dependency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Fairness and max-change policies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Prevents unsafe automation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932688" y="5715000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A41C30"/>
                </a:solidFill>
                <a:latin typeface="Aptos"/>
              </a:rPr>
              <a:t>Commercial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678424"/>
            <a:ext cx="810158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10" b="1">
                <a:solidFill>
                  <a:srgbClr val="0F172A"/>
                </a:solidFill>
                <a:latin typeface="Aptos"/>
              </a:rPr>
              <a:t>Revora can become a lightweight pricing cockpit for SMEs that need evidence-backed decisions before they can invest in enterprise pricing suites.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740354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219456"/>
            <a:ext cx="5394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64748B"/>
                </a:solidFill>
                <a:latin typeface="Aptos"/>
              </a:rPr>
              <a:t>School of Technology Management &amp; Engineering | NMIMS Navi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201168"/>
            <a:ext cx="4251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2004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39728" y="6601968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80" b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749807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Conclusion, Demo Plan &amp;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25296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35024"/>
            <a:ext cx="8595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Final outcome: an auditable pricing-intelligence product with real implementation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719072"/>
            <a:ext cx="5074920" cy="128016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01952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6A34A"/>
                </a:solidFill>
                <a:latin typeface="Aptos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267712"/>
            <a:ext cx="4498848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0F172A"/>
                </a:solidFill>
                <a:latin typeface="Aptos"/>
              </a:rPr>
              <a:t>Revora demonstrates a complete data-to-price workflow: import, clean, model, simulate, recommend, explain, and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719072"/>
            <a:ext cx="5074920" cy="12801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2563EB"/>
                </a:solidFill>
                <a:latin typeface="Aptos"/>
              </a:rPr>
              <a:t>Demo backup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229514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1" y="2221992"/>
            <a:ext cx="40416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Working local build and browser path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2505456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1" y="2432304"/>
            <a:ext cx="40416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Offline screenshots in this deck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715768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1" y="2642616"/>
            <a:ext cx="40416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Recorded demo backup recommended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926080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1" y="2852928"/>
            <a:ext cx="40416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Internet backup for deployment/docs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22960" y="3657600"/>
          <a:ext cx="104698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40"/>
                <a:gridCol w="5234940"/>
              </a:tblGrid>
              <a:tr h="220980"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Reference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[1]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Node.js, Express, React, Vite, MongoDB, Mongoose documentation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[2]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Tailwind CSS and scikit-learn documentation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[3]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den Boer, Dynamic pricing and learning, 2015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[4]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Cheung, Simchi-Levi, Wang, Dynamic pricing with limited experimentation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[5]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t>Revora source code and final project report, May 2026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914400" y="5559552"/>
            <a:ext cx="914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60" b="1">
                <a:solidFill>
                  <a:srgbClr val="A41C30"/>
                </a:solidFill>
                <a:latin typeface="Aptos"/>
              </a:rPr>
              <a:t>Viva 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522976"/>
            <a:ext cx="90525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30" b="1">
                <a:solidFill>
                  <a:srgbClr val="0F172A"/>
                </a:solidFill>
                <a:latin typeface="Aptos"/>
              </a:rPr>
              <a:t>My contribution: MERN implementation, CSV/data quality workflow, pricing logic, ML Decision Space integration, reports, testing, and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